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63" r:id="rId4"/>
    <p:sldId id="273" r:id="rId5"/>
    <p:sldId id="269" r:id="rId6"/>
    <p:sldId id="265" r:id="rId7"/>
    <p:sldId id="267" r:id="rId8"/>
    <p:sldId id="270" r:id="rId9"/>
    <p:sldId id="271" r:id="rId10"/>
    <p:sldId id="272" r:id="rId11"/>
  </p:sldIdLst>
  <p:sldSz cx="12192000" cy="6858000"/>
  <p:notesSz cx="6858000" cy="9144000"/>
  <p:defaultTextStyle>
    <a:defPPr>
      <a:defRPr lang="en-A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58"/>
    <p:restoredTop sz="94726"/>
  </p:normalViewPr>
  <p:slideViewPr>
    <p:cSldViewPr snapToGrid="0">
      <p:cViewPr>
        <p:scale>
          <a:sx n="130" d="100"/>
          <a:sy n="130" d="100"/>
        </p:scale>
        <p:origin x="24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3D55FE-1D80-2C4D-B462-7CBCFE70B7BC}" type="datetimeFigureOut">
              <a:rPr lang="en-AT" smtClean="0"/>
              <a:t>27.05.26</a:t>
            </a:fld>
            <a:endParaRPr lang="en-A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27E309-4305-E84F-9FB2-53D6063E62C1}" type="slidenum">
              <a:rPr lang="en-AT" smtClean="0"/>
              <a:t>‹#›</a:t>
            </a:fld>
            <a:endParaRPr lang="en-AT"/>
          </a:p>
        </p:txBody>
      </p:sp>
    </p:spTree>
    <p:extLst>
      <p:ext uri="{BB962C8B-B14F-4D97-AF65-F5344CB8AC3E}">
        <p14:creationId xmlns:p14="http://schemas.microsoft.com/office/powerpoint/2010/main" val="520037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T" dirty="0"/>
          </a:p>
        </p:txBody>
      </p:sp>
      <p:sp>
        <p:nvSpPr>
          <p:cNvPr id="4" name="Slide Number Placeholder 3"/>
          <p:cNvSpPr>
            <a:spLocks noGrp="1"/>
          </p:cNvSpPr>
          <p:nvPr>
            <p:ph type="sldNum" sz="quarter" idx="5"/>
          </p:nvPr>
        </p:nvSpPr>
        <p:spPr/>
        <p:txBody>
          <a:bodyPr/>
          <a:lstStyle/>
          <a:p>
            <a:fld id="{DC27E309-4305-E84F-9FB2-53D6063E62C1}" type="slidenum">
              <a:rPr lang="en-AT" smtClean="0"/>
              <a:t>2</a:t>
            </a:fld>
            <a:endParaRPr lang="en-AT"/>
          </a:p>
        </p:txBody>
      </p:sp>
    </p:spTree>
    <p:extLst>
      <p:ext uri="{BB962C8B-B14F-4D97-AF65-F5344CB8AC3E}">
        <p14:creationId xmlns:p14="http://schemas.microsoft.com/office/powerpoint/2010/main" val="1828711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82FB8-706D-D338-E046-18E5ACCDF02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T"/>
          </a:p>
        </p:txBody>
      </p:sp>
      <p:sp>
        <p:nvSpPr>
          <p:cNvPr id="3" name="Subtitle 2">
            <a:extLst>
              <a:ext uri="{FF2B5EF4-FFF2-40B4-BE49-F238E27FC236}">
                <a16:creationId xmlns:a16="http://schemas.microsoft.com/office/drawing/2014/main" id="{AD8629DD-5A43-0C61-0F7E-3FEC334034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T"/>
          </a:p>
        </p:txBody>
      </p:sp>
      <p:sp>
        <p:nvSpPr>
          <p:cNvPr id="4" name="Date Placeholder 3">
            <a:extLst>
              <a:ext uri="{FF2B5EF4-FFF2-40B4-BE49-F238E27FC236}">
                <a16:creationId xmlns:a16="http://schemas.microsoft.com/office/drawing/2014/main" id="{B956B6D1-BD1D-CEFB-20CB-68CFB2753EA2}"/>
              </a:ext>
            </a:extLst>
          </p:cNvPr>
          <p:cNvSpPr>
            <a:spLocks noGrp="1"/>
          </p:cNvSpPr>
          <p:nvPr>
            <p:ph type="dt" sz="half" idx="10"/>
          </p:nvPr>
        </p:nvSpPr>
        <p:spPr/>
        <p:txBody>
          <a:bodyPr/>
          <a:lstStyle/>
          <a:p>
            <a:fld id="{3FD0D467-1D84-9244-990E-3FFB6DF4F3B4}" type="datetimeFigureOut">
              <a:rPr lang="en-AT" smtClean="0"/>
              <a:t>27.05.26</a:t>
            </a:fld>
            <a:endParaRPr lang="en-AT"/>
          </a:p>
        </p:txBody>
      </p:sp>
      <p:sp>
        <p:nvSpPr>
          <p:cNvPr id="5" name="Footer Placeholder 4">
            <a:extLst>
              <a:ext uri="{FF2B5EF4-FFF2-40B4-BE49-F238E27FC236}">
                <a16:creationId xmlns:a16="http://schemas.microsoft.com/office/drawing/2014/main" id="{976666D9-B24D-53B0-7E0D-CD0CA9D42C9E}"/>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CD374647-FC8B-5BC6-E526-DFD52CB69A0A}"/>
              </a:ext>
            </a:extLst>
          </p:cNvPr>
          <p:cNvSpPr>
            <a:spLocks noGrp="1"/>
          </p:cNvSpPr>
          <p:nvPr>
            <p:ph type="sldNum" sz="quarter" idx="12"/>
          </p:nvPr>
        </p:nvSpPr>
        <p:spPr/>
        <p:txBody>
          <a:bodyPr/>
          <a:lstStyle/>
          <a:p>
            <a:fld id="{915A0904-A61A-AB4E-9353-02F60D9AE474}" type="slidenum">
              <a:rPr lang="en-AT" smtClean="0"/>
              <a:t>‹#›</a:t>
            </a:fld>
            <a:endParaRPr lang="en-AT"/>
          </a:p>
        </p:txBody>
      </p:sp>
    </p:spTree>
    <p:extLst>
      <p:ext uri="{BB962C8B-B14F-4D97-AF65-F5344CB8AC3E}">
        <p14:creationId xmlns:p14="http://schemas.microsoft.com/office/powerpoint/2010/main" val="2463949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D01C6-D89F-8EAF-3F62-4190A5F071A6}"/>
              </a:ext>
            </a:extLst>
          </p:cNvPr>
          <p:cNvSpPr>
            <a:spLocks noGrp="1"/>
          </p:cNvSpPr>
          <p:nvPr>
            <p:ph type="title"/>
          </p:nvPr>
        </p:nvSpPr>
        <p:spPr/>
        <p:txBody>
          <a:bodyPr/>
          <a:lstStyle/>
          <a:p>
            <a:r>
              <a:rPr lang="en-GB"/>
              <a:t>Click to edit Master title style</a:t>
            </a:r>
            <a:endParaRPr lang="en-AT"/>
          </a:p>
        </p:txBody>
      </p:sp>
      <p:sp>
        <p:nvSpPr>
          <p:cNvPr id="3" name="Content Placeholder 2">
            <a:extLst>
              <a:ext uri="{FF2B5EF4-FFF2-40B4-BE49-F238E27FC236}">
                <a16:creationId xmlns:a16="http://schemas.microsoft.com/office/drawing/2014/main" id="{984C6DA7-CDF7-E33E-F2EC-D8C7054DDAA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4" name="Date Placeholder 3">
            <a:extLst>
              <a:ext uri="{FF2B5EF4-FFF2-40B4-BE49-F238E27FC236}">
                <a16:creationId xmlns:a16="http://schemas.microsoft.com/office/drawing/2014/main" id="{60E3E87C-A678-5831-E7B2-250006AB19F2}"/>
              </a:ext>
            </a:extLst>
          </p:cNvPr>
          <p:cNvSpPr>
            <a:spLocks noGrp="1"/>
          </p:cNvSpPr>
          <p:nvPr>
            <p:ph type="dt" sz="half" idx="10"/>
          </p:nvPr>
        </p:nvSpPr>
        <p:spPr/>
        <p:txBody>
          <a:bodyPr/>
          <a:lstStyle/>
          <a:p>
            <a:fld id="{3FD0D467-1D84-9244-990E-3FFB6DF4F3B4}" type="datetimeFigureOut">
              <a:rPr lang="en-AT" smtClean="0"/>
              <a:t>27.05.26</a:t>
            </a:fld>
            <a:endParaRPr lang="en-AT"/>
          </a:p>
        </p:txBody>
      </p:sp>
      <p:sp>
        <p:nvSpPr>
          <p:cNvPr id="5" name="Footer Placeholder 4">
            <a:extLst>
              <a:ext uri="{FF2B5EF4-FFF2-40B4-BE49-F238E27FC236}">
                <a16:creationId xmlns:a16="http://schemas.microsoft.com/office/drawing/2014/main" id="{FF3C23B6-D0F0-15BA-ECDF-87B46BA86907}"/>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68DB17D9-4969-D4D4-AC8F-690BC9BCC1F7}"/>
              </a:ext>
            </a:extLst>
          </p:cNvPr>
          <p:cNvSpPr>
            <a:spLocks noGrp="1"/>
          </p:cNvSpPr>
          <p:nvPr>
            <p:ph type="sldNum" sz="quarter" idx="12"/>
          </p:nvPr>
        </p:nvSpPr>
        <p:spPr/>
        <p:txBody>
          <a:bodyPr/>
          <a:lstStyle/>
          <a:p>
            <a:fld id="{915A0904-A61A-AB4E-9353-02F60D9AE474}" type="slidenum">
              <a:rPr lang="en-AT" smtClean="0"/>
              <a:t>‹#›</a:t>
            </a:fld>
            <a:endParaRPr lang="en-AT"/>
          </a:p>
        </p:txBody>
      </p:sp>
    </p:spTree>
    <p:extLst>
      <p:ext uri="{BB962C8B-B14F-4D97-AF65-F5344CB8AC3E}">
        <p14:creationId xmlns:p14="http://schemas.microsoft.com/office/powerpoint/2010/main" val="2370106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24F3B-AB91-A8CC-7BC0-9FADFDF53F7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T"/>
          </a:p>
        </p:txBody>
      </p:sp>
      <p:sp>
        <p:nvSpPr>
          <p:cNvPr id="3" name="Text Placeholder 2">
            <a:extLst>
              <a:ext uri="{FF2B5EF4-FFF2-40B4-BE49-F238E27FC236}">
                <a16:creationId xmlns:a16="http://schemas.microsoft.com/office/drawing/2014/main" id="{FE42BEAB-E2CC-7BB9-0AF3-1DFFB8C213C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707844C-75AB-0368-9A2D-E146B5BC1717}"/>
              </a:ext>
            </a:extLst>
          </p:cNvPr>
          <p:cNvSpPr>
            <a:spLocks noGrp="1"/>
          </p:cNvSpPr>
          <p:nvPr>
            <p:ph type="dt" sz="half" idx="10"/>
          </p:nvPr>
        </p:nvSpPr>
        <p:spPr/>
        <p:txBody>
          <a:bodyPr/>
          <a:lstStyle/>
          <a:p>
            <a:fld id="{3FD0D467-1D84-9244-990E-3FFB6DF4F3B4}" type="datetimeFigureOut">
              <a:rPr lang="en-AT" smtClean="0"/>
              <a:t>27.05.26</a:t>
            </a:fld>
            <a:endParaRPr lang="en-AT"/>
          </a:p>
        </p:txBody>
      </p:sp>
      <p:sp>
        <p:nvSpPr>
          <p:cNvPr id="5" name="Footer Placeholder 4">
            <a:extLst>
              <a:ext uri="{FF2B5EF4-FFF2-40B4-BE49-F238E27FC236}">
                <a16:creationId xmlns:a16="http://schemas.microsoft.com/office/drawing/2014/main" id="{A53A8D91-E695-C5AF-CF7D-9A825CA227E2}"/>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CEC989D9-A026-C129-C2F2-8C70E6DBB507}"/>
              </a:ext>
            </a:extLst>
          </p:cNvPr>
          <p:cNvSpPr>
            <a:spLocks noGrp="1"/>
          </p:cNvSpPr>
          <p:nvPr>
            <p:ph type="sldNum" sz="quarter" idx="12"/>
          </p:nvPr>
        </p:nvSpPr>
        <p:spPr/>
        <p:txBody>
          <a:bodyPr/>
          <a:lstStyle/>
          <a:p>
            <a:fld id="{915A0904-A61A-AB4E-9353-02F60D9AE474}" type="slidenum">
              <a:rPr lang="en-AT" smtClean="0"/>
              <a:t>‹#›</a:t>
            </a:fld>
            <a:endParaRPr lang="en-AT"/>
          </a:p>
        </p:txBody>
      </p:sp>
    </p:spTree>
    <p:extLst>
      <p:ext uri="{BB962C8B-B14F-4D97-AF65-F5344CB8AC3E}">
        <p14:creationId xmlns:p14="http://schemas.microsoft.com/office/powerpoint/2010/main" val="3448851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38055-FB8B-8DE6-F795-4338512C478B}"/>
              </a:ext>
            </a:extLst>
          </p:cNvPr>
          <p:cNvSpPr>
            <a:spLocks noGrp="1"/>
          </p:cNvSpPr>
          <p:nvPr>
            <p:ph type="title"/>
          </p:nvPr>
        </p:nvSpPr>
        <p:spPr/>
        <p:txBody>
          <a:bodyPr/>
          <a:lstStyle/>
          <a:p>
            <a:r>
              <a:rPr lang="en-GB"/>
              <a:t>Click to edit Master title style</a:t>
            </a:r>
            <a:endParaRPr lang="en-AT"/>
          </a:p>
        </p:txBody>
      </p:sp>
      <p:sp>
        <p:nvSpPr>
          <p:cNvPr id="3" name="Content Placeholder 2">
            <a:extLst>
              <a:ext uri="{FF2B5EF4-FFF2-40B4-BE49-F238E27FC236}">
                <a16:creationId xmlns:a16="http://schemas.microsoft.com/office/drawing/2014/main" id="{80E9379A-D616-4DE8-5BDD-6DAEC23ABF8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4" name="Content Placeholder 3">
            <a:extLst>
              <a:ext uri="{FF2B5EF4-FFF2-40B4-BE49-F238E27FC236}">
                <a16:creationId xmlns:a16="http://schemas.microsoft.com/office/drawing/2014/main" id="{AEE51BFA-6830-74B5-15CB-DEF34981740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5" name="Date Placeholder 4">
            <a:extLst>
              <a:ext uri="{FF2B5EF4-FFF2-40B4-BE49-F238E27FC236}">
                <a16:creationId xmlns:a16="http://schemas.microsoft.com/office/drawing/2014/main" id="{822528EF-2634-EB9A-4A58-8E2A1013787E}"/>
              </a:ext>
            </a:extLst>
          </p:cNvPr>
          <p:cNvSpPr>
            <a:spLocks noGrp="1"/>
          </p:cNvSpPr>
          <p:nvPr>
            <p:ph type="dt" sz="half" idx="10"/>
          </p:nvPr>
        </p:nvSpPr>
        <p:spPr/>
        <p:txBody>
          <a:bodyPr/>
          <a:lstStyle/>
          <a:p>
            <a:fld id="{3FD0D467-1D84-9244-990E-3FFB6DF4F3B4}" type="datetimeFigureOut">
              <a:rPr lang="en-AT" smtClean="0"/>
              <a:t>27.05.26</a:t>
            </a:fld>
            <a:endParaRPr lang="en-AT"/>
          </a:p>
        </p:txBody>
      </p:sp>
      <p:sp>
        <p:nvSpPr>
          <p:cNvPr id="6" name="Footer Placeholder 5">
            <a:extLst>
              <a:ext uri="{FF2B5EF4-FFF2-40B4-BE49-F238E27FC236}">
                <a16:creationId xmlns:a16="http://schemas.microsoft.com/office/drawing/2014/main" id="{448D1DCA-BF89-BC96-4427-6B3F46C64AF3}"/>
              </a:ext>
            </a:extLst>
          </p:cNvPr>
          <p:cNvSpPr>
            <a:spLocks noGrp="1"/>
          </p:cNvSpPr>
          <p:nvPr>
            <p:ph type="ftr" sz="quarter" idx="11"/>
          </p:nvPr>
        </p:nvSpPr>
        <p:spPr/>
        <p:txBody>
          <a:bodyPr/>
          <a:lstStyle/>
          <a:p>
            <a:endParaRPr lang="en-AT"/>
          </a:p>
        </p:txBody>
      </p:sp>
      <p:sp>
        <p:nvSpPr>
          <p:cNvPr id="7" name="Slide Number Placeholder 6">
            <a:extLst>
              <a:ext uri="{FF2B5EF4-FFF2-40B4-BE49-F238E27FC236}">
                <a16:creationId xmlns:a16="http://schemas.microsoft.com/office/drawing/2014/main" id="{88A90EC0-FA19-8241-2661-594885E6912F}"/>
              </a:ext>
            </a:extLst>
          </p:cNvPr>
          <p:cNvSpPr>
            <a:spLocks noGrp="1"/>
          </p:cNvSpPr>
          <p:nvPr>
            <p:ph type="sldNum" sz="quarter" idx="12"/>
          </p:nvPr>
        </p:nvSpPr>
        <p:spPr/>
        <p:txBody>
          <a:bodyPr/>
          <a:lstStyle/>
          <a:p>
            <a:fld id="{915A0904-A61A-AB4E-9353-02F60D9AE474}" type="slidenum">
              <a:rPr lang="en-AT" smtClean="0"/>
              <a:t>‹#›</a:t>
            </a:fld>
            <a:endParaRPr lang="en-AT"/>
          </a:p>
        </p:txBody>
      </p:sp>
    </p:spTree>
    <p:extLst>
      <p:ext uri="{BB962C8B-B14F-4D97-AF65-F5344CB8AC3E}">
        <p14:creationId xmlns:p14="http://schemas.microsoft.com/office/powerpoint/2010/main" val="944219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9565-236C-4A06-9F67-2B748715503D}"/>
              </a:ext>
            </a:extLst>
          </p:cNvPr>
          <p:cNvSpPr>
            <a:spLocks noGrp="1"/>
          </p:cNvSpPr>
          <p:nvPr>
            <p:ph type="title"/>
          </p:nvPr>
        </p:nvSpPr>
        <p:spPr>
          <a:xfrm>
            <a:off x="839788" y="365125"/>
            <a:ext cx="10515600" cy="1325563"/>
          </a:xfrm>
        </p:spPr>
        <p:txBody>
          <a:bodyPr/>
          <a:lstStyle/>
          <a:p>
            <a:r>
              <a:rPr lang="en-GB"/>
              <a:t>Click to edit Master title style</a:t>
            </a:r>
            <a:endParaRPr lang="en-AT"/>
          </a:p>
        </p:txBody>
      </p:sp>
      <p:sp>
        <p:nvSpPr>
          <p:cNvPr id="3" name="Text Placeholder 2">
            <a:extLst>
              <a:ext uri="{FF2B5EF4-FFF2-40B4-BE49-F238E27FC236}">
                <a16:creationId xmlns:a16="http://schemas.microsoft.com/office/drawing/2014/main" id="{729E975D-A666-3990-7606-AD63F089C3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32631CB-F77F-210E-790B-6ED13620755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5" name="Text Placeholder 4">
            <a:extLst>
              <a:ext uri="{FF2B5EF4-FFF2-40B4-BE49-F238E27FC236}">
                <a16:creationId xmlns:a16="http://schemas.microsoft.com/office/drawing/2014/main" id="{FF7F3749-0E4E-E792-6B98-551A908D06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CF2D7F2-6720-A419-4259-529C98D0BD1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7" name="Date Placeholder 6">
            <a:extLst>
              <a:ext uri="{FF2B5EF4-FFF2-40B4-BE49-F238E27FC236}">
                <a16:creationId xmlns:a16="http://schemas.microsoft.com/office/drawing/2014/main" id="{7936A7D1-D579-5EF4-DA8F-09B170206F89}"/>
              </a:ext>
            </a:extLst>
          </p:cNvPr>
          <p:cNvSpPr>
            <a:spLocks noGrp="1"/>
          </p:cNvSpPr>
          <p:nvPr>
            <p:ph type="dt" sz="half" idx="10"/>
          </p:nvPr>
        </p:nvSpPr>
        <p:spPr/>
        <p:txBody>
          <a:bodyPr/>
          <a:lstStyle/>
          <a:p>
            <a:fld id="{3FD0D467-1D84-9244-990E-3FFB6DF4F3B4}" type="datetimeFigureOut">
              <a:rPr lang="en-AT" smtClean="0"/>
              <a:t>27.05.26</a:t>
            </a:fld>
            <a:endParaRPr lang="en-AT"/>
          </a:p>
        </p:txBody>
      </p:sp>
      <p:sp>
        <p:nvSpPr>
          <p:cNvPr id="8" name="Footer Placeholder 7">
            <a:extLst>
              <a:ext uri="{FF2B5EF4-FFF2-40B4-BE49-F238E27FC236}">
                <a16:creationId xmlns:a16="http://schemas.microsoft.com/office/drawing/2014/main" id="{A392C6D6-846E-27AB-1331-3C8CCA95AB56}"/>
              </a:ext>
            </a:extLst>
          </p:cNvPr>
          <p:cNvSpPr>
            <a:spLocks noGrp="1"/>
          </p:cNvSpPr>
          <p:nvPr>
            <p:ph type="ftr" sz="quarter" idx="11"/>
          </p:nvPr>
        </p:nvSpPr>
        <p:spPr/>
        <p:txBody>
          <a:bodyPr/>
          <a:lstStyle/>
          <a:p>
            <a:endParaRPr lang="en-AT"/>
          </a:p>
        </p:txBody>
      </p:sp>
      <p:sp>
        <p:nvSpPr>
          <p:cNvPr id="9" name="Slide Number Placeholder 8">
            <a:extLst>
              <a:ext uri="{FF2B5EF4-FFF2-40B4-BE49-F238E27FC236}">
                <a16:creationId xmlns:a16="http://schemas.microsoft.com/office/drawing/2014/main" id="{C3AF64F9-0A43-E52C-53C2-D178DE8259A1}"/>
              </a:ext>
            </a:extLst>
          </p:cNvPr>
          <p:cNvSpPr>
            <a:spLocks noGrp="1"/>
          </p:cNvSpPr>
          <p:nvPr>
            <p:ph type="sldNum" sz="quarter" idx="12"/>
          </p:nvPr>
        </p:nvSpPr>
        <p:spPr/>
        <p:txBody>
          <a:bodyPr/>
          <a:lstStyle/>
          <a:p>
            <a:fld id="{915A0904-A61A-AB4E-9353-02F60D9AE474}" type="slidenum">
              <a:rPr lang="en-AT" smtClean="0"/>
              <a:t>‹#›</a:t>
            </a:fld>
            <a:endParaRPr lang="en-AT"/>
          </a:p>
        </p:txBody>
      </p:sp>
    </p:spTree>
    <p:extLst>
      <p:ext uri="{BB962C8B-B14F-4D97-AF65-F5344CB8AC3E}">
        <p14:creationId xmlns:p14="http://schemas.microsoft.com/office/powerpoint/2010/main" val="751928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B1E37-3B56-C3FE-8869-B96AF8DF47E1}"/>
              </a:ext>
            </a:extLst>
          </p:cNvPr>
          <p:cNvSpPr>
            <a:spLocks noGrp="1"/>
          </p:cNvSpPr>
          <p:nvPr>
            <p:ph type="title"/>
          </p:nvPr>
        </p:nvSpPr>
        <p:spPr/>
        <p:txBody>
          <a:bodyPr/>
          <a:lstStyle/>
          <a:p>
            <a:r>
              <a:rPr lang="en-GB"/>
              <a:t>Click to edit Master title style</a:t>
            </a:r>
            <a:endParaRPr lang="en-AT"/>
          </a:p>
        </p:txBody>
      </p:sp>
      <p:sp>
        <p:nvSpPr>
          <p:cNvPr id="3" name="Date Placeholder 2">
            <a:extLst>
              <a:ext uri="{FF2B5EF4-FFF2-40B4-BE49-F238E27FC236}">
                <a16:creationId xmlns:a16="http://schemas.microsoft.com/office/drawing/2014/main" id="{D3B7F151-14B0-91D3-85EB-983677A94D3C}"/>
              </a:ext>
            </a:extLst>
          </p:cNvPr>
          <p:cNvSpPr>
            <a:spLocks noGrp="1"/>
          </p:cNvSpPr>
          <p:nvPr>
            <p:ph type="dt" sz="half" idx="10"/>
          </p:nvPr>
        </p:nvSpPr>
        <p:spPr/>
        <p:txBody>
          <a:bodyPr/>
          <a:lstStyle/>
          <a:p>
            <a:fld id="{3FD0D467-1D84-9244-990E-3FFB6DF4F3B4}" type="datetimeFigureOut">
              <a:rPr lang="en-AT" smtClean="0"/>
              <a:t>27.05.26</a:t>
            </a:fld>
            <a:endParaRPr lang="en-AT"/>
          </a:p>
        </p:txBody>
      </p:sp>
      <p:sp>
        <p:nvSpPr>
          <p:cNvPr id="4" name="Footer Placeholder 3">
            <a:extLst>
              <a:ext uri="{FF2B5EF4-FFF2-40B4-BE49-F238E27FC236}">
                <a16:creationId xmlns:a16="http://schemas.microsoft.com/office/drawing/2014/main" id="{78DE7FF5-B2DE-66BB-82F5-FD257A1438EB}"/>
              </a:ext>
            </a:extLst>
          </p:cNvPr>
          <p:cNvSpPr>
            <a:spLocks noGrp="1"/>
          </p:cNvSpPr>
          <p:nvPr>
            <p:ph type="ftr" sz="quarter" idx="11"/>
          </p:nvPr>
        </p:nvSpPr>
        <p:spPr/>
        <p:txBody>
          <a:bodyPr/>
          <a:lstStyle/>
          <a:p>
            <a:endParaRPr lang="en-AT"/>
          </a:p>
        </p:txBody>
      </p:sp>
      <p:sp>
        <p:nvSpPr>
          <p:cNvPr id="5" name="Slide Number Placeholder 4">
            <a:extLst>
              <a:ext uri="{FF2B5EF4-FFF2-40B4-BE49-F238E27FC236}">
                <a16:creationId xmlns:a16="http://schemas.microsoft.com/office/drawing/2014/main" id="{88331FD6-4982-18D2-109B-68F84BD45C48}"/>
              </a:ext>
            </a:extLst>
          </p:cNvPr>
          <p:cNvSpPr>
            <a:spLocks noGrp="1"/>
          </p:cNvSpPr>
          <p:nvPr>
            <p:ph type="sldNum" sz="quarter" idx="12"/>
          </p:nvPr>
        </p:nvSpPr>
        <p:spPr/>
        <p:txBody>
          <a:bodyPr/>
          <a:lstStyle/>
          <a:p>
            <a:fld id="{915A0904-A61A-AB4E-9353-02F60D9AE474}" type="slidenum">
              <a:rPr lang="en-AT" smtClean="0"/>
              <a:t>‹#›</a:t>
            </a:fld>
            <a:endParaRPr lang="en-AT"/>
          </a:p>
        </p:txBody>
      </p:sp>
    </p:spTree>
    <p:extLst>
      <p:ext uri="{BB962C8B-B14F-4D97-AF65-F5344CB8AC3E}">
        <p14:creationId xmlns:p14="http://schemas.microsoft.com/office/powerpoint/2010/main" val="2261229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F318F2-20DE-F6D2-384D-5EEBE52438C8}"/>
              </a:ext>
            </a:extLst>
          </p:cNvPr>
          <p:cNvSpPr>
            <a:spLocks noGrp="1"/>
          </p:cNvSpPr>
          <p:nvPr>
            <p:ph type="dt" sz="half" idx="10"/>
          </p:nvPr>
        </p:nvSpPr>
        <p:spPr/>
        <p:txBody>
          <a:bodyPr/>
          <a:lstStyle/>
          <a:p>
            <a:fld id="{3FD0D467-1D84-9244-990E-3FFB6DF4F3B4}" type="datetimeFigureOut">
              <a:rPr lang="en-AT" smtClean="0"/>
              <a:t>27.05.26</a:t>
            </a:fld>
            <a:endParaRPr lang="en-AT"/>
          </a:p>
        </p:txBody>
      </p:sp>
      <p:sp>
        <p:nvSpPr>
          <p:cNvPr id="3" name="Footer Placeholder 2">
            <a:extLst>
              <a:ext uri="{FF2B5EF4-FFF2-40B4-BE49-F238E27FC236}">
                <a16:creationId xmlns:a16="http://schemas.microsoft.com/office/drawing/2014/main" id="{978F2089-DCFF-DB6E-5A64-75085F6551B1}"/>
              </a:ext>
            </a:extLst>
          </p:cNvPr>
          <p:cNvSpPr>
            <a:spLocks noGrp="1"/>
          </p:cNvSpPr>
          <p:nvPr>
            <p:ph type="ftr" sz="quarter" idx="11"/>
          </p:nvPr>
        </p:nvSpPr>
        <p:spPr/>
        <p:txBody>
          <a:bodyPr/>
          <a:lstStyle/>
          <a:p>
            <a:endParaRPr lang="en-AT"/>
          </a:p>
        </p:txBody>
      </p:sp>
      <p:sp>
        <p:nvSpPr>
          <p:cNvPr id="4" name="Slide Number Placeholder 3">
            <a:extLst>
              <a:ext uri="{FF2B5EF4-FFF2-40B4-BE49-F238E27FC236}">
                <a16:creationId xmlns:a16="http://schemas.microsoft.com/office/drawing/2014/main" id="{C153929F-EBD1-1455-B011-FA3B9592048E}"/>
              </a:ext>
            </a:extLst>
          </p:cNvPr>
          <p:cNvSpPr>
            <a:spLocks noGrp="1"/>
          </p:cNvSpPr>
          <p:nvPr>
            <p:ph type="sldNum" sz="quarter" idx="12"/>
          </p:nvPr>
        </p:nvSpPr>
        <p:spPr/>
        <p:txBody>
          <a:bodyPr/>
          <a:lstStyle/>
          <a:p>
            <a:fld id="{915A0904-A61A-AB4E-9353-02F60D9AE474}" type="slidenum">
              <a:rPr lang="en-AT" smtClean="0"/>
              <a:t>‹#›</a:t>
            </a:fld>
            <a:endParaRPr lang="en-AT"/>
          </a:p>
        </p:txBody>
      </p:sp>
    </p:spTree>
    <p:extLst>
      <p:ext uri="{BB962C8B-B14F-4D97-AF65-F5344CB8AC3E}">
        <p14:creationId xmlns:p14="http://schemas.microsoft.com/office/powerpoint/2010/main" val="1251339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C9FD1-87FD-AB74-0CB3-3DFB19DFB83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T"/>
          </a:p>
        </p:txBody>
      </p:sp>
      <p:sp>
        <p:nvSpPr>
          <p:cNvPr id="3" name="Content Placeholder 2">
            <a:extLst>
              <a:ext uri="{FF2B5EF4-FFF2-40B4-BE49-F238E27FC236}">
                <a16:creationId xmlns:a16="http://schemas.microsoft.com/office/drawing/2014/main" id="{201B20A1-AD56-F1DB-B583-43D9E40647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4" name="Text Placeholder 3">
            <a:extLst>
              <a:ext uri="{FF2B5EF4-FFF2-40B4-BE49-F238E27FC236}">
                <a16:creationId xmlns:a16="http://schemas.microsoft.com/office/drawing/2014/main" id="{42870DEF-1086-C188-1E0D-9D611EA202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250EA5A-B6F8-D937-0B69-D61795421E11}"/>
              </a:ext>
            </a:extLst>
          </p:cNvPr>
          <p:cNvSpPr>
            <a:spLocks noGrp="1"/>
          </p:cNvSpPr>
          <p:nvPr>
            <p:ph type="dt" sz="half" idx="10"/>
          </p:nvPr>
        </p:nvSpPr>
        <p:spPr/>
        <p:txBody>
          <a:bodyPr/>
          <a:lstStyle/>
          <a:p>
            <a:fld id="{3FD0D467-1D84-9244-990E-3FFB6DF4F3B4}" type="datetimeFigureOut">
              <a:rPr lang="en-AT" smtClean="0"/>
              <a:t>27.05.26</a:t>
            </a:fld>
            <a:endParaRPr lang="en-AT"/>
          </a:p>
        </p:txBody>
      </p:sp>
      <p:sp>
        <p:nvSpPr>
          <p:cNvPr id="6" name="Footer Placeholder 5">
            <a:extLst>
              <a:ext uri="{FF2B5EF4-FFF2-40B4-BE49-F238E27FC236}">
                <a16:creationId xmlns:a16="http://schemas.microsoft.com/office/drawing/2014/main" id="{CEA86363-491E-DD34-5D64-CE8BF6842665}"/>
              </a:ext>
            </a:extLst>
          </p:cNvPr>
          <p:cNvSpPr>
            <a:spLocks noGrp="1"/>
          </p:cNvSpPr>
          <p:nvPr>
            <p:ph type="ftr" sz="quarter" idx="11"/>
          </p:nvPr>
        </p:nvSpPr>
        <p:spPr/>
        <p:txBody>
          <a:bodyPr/>
          <a:lstStyle/>
          <a:p>
            <a:endParaRPr lang="en-AT"/>
          </a:p>
        </p:txBody>
      </p:sp>
      <p:sp>
        <p:nvSpPr>
          <p:cNvPr id="7" name="Slide Number Placeholder 6">
            <a:extLst>
              <a:ext uri="{FF2B5EF4-FFF2-40B4-BE49-F238E27FC236}">
                <a16:creationId xmlns:a16="http://schemas.microsoft.com/office/drawing/2014/main" id="{9B9E0B35-ACFA-83F9-32FF-5894AA37FFAD}"/>
              </a:ext>
            </a:extLst>
          </p:cNvPr>
          <p:cNvSpPr>
            <a:spLocks noGrp="1"/>
          </p:cNvSpPr>
          <p:nvPr>
            <p:ph type="sldNum" sz="quarter" idx="12"/>
          </p:nvPr>
        </p:nvSpPr>
        <p:spPr/>
        <p:txBody>
          <a:bodyPr/>
          <a:lstStyle/>
          <a:p>
            <a:fld id="{915A0904-A61A-AB4E-9353-02F60D9AE474}" type="slidenum">
              <a:rPr lang="en-AT" smtClean="0"/>
              <a:t>‹#›</a:t>
            </a:fld>
            <a:endParaRPr lang="en-AT"/>
          </a:p>
        </p:txBody>
      </p:sp>
    </p:spTree>
    <p:extLst>
      <p:ext uri="{BB962C8B-B14F-4D97-AF65-F5344CB8AC3E}">
        <p14:creationId xmlns:p14="http://schemas.microsoft.com/office/powerpoint/2010/main" val="423297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D8254-0BDD-789D-4C8B-54B5BA25958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T"/>
          </a:p>
        </p:txBody>
      </p:sp>
      <p:sp>
        <p:nvSpPr>
          <p:cNvPr id="3" name="Picture Placeholder 2">
            <a:extLst>
              <a:ext uri="{FF2B5EF4-FFF2-40B4-BE49-F238E27FC236}">
                <a16:creationId xmlns:a16="http://schemas.microsoft.com/office/drawing/2014/main" id="{CCFAD422-46DF-4F41-28BC-D0F725A7F5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T"/>
          </a:p>
        </p:txBody>
      </p:sp>
      <p:sp>
        <p:nvSpPr>
          <p:cNvPr id="4" name="Text Placeholder 3">
            <a:extLst>
              <a:ext uri="{FF2B5EF4-FFF2-40B4-BE49-F238E27FC236}">
                <a16:creationId xmlns:a16="http://schemas.microsoft.com/office/drawing/2014/main" id="{76A904EF-6A7A-ED6B-4FE6-6BB3C6F358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2A6AE91-10FD-750C-E9B8-CBF421953AA3}"/>
              </a:ext>
            </a:extLst>
          </p:cNvPr>
          <p:cNvSpPr>
            <a:spLocks noGrp="1"/>
          </p:cNvSpPr>
          <p:nvPr>
            <p:ph type="dt" sz="half" idx="10"/>
          </p:nvPr>
        </p:nvSpPr>
        <p:spPr/>
        <p:txBody>
          <a:bodyPr/>
          <a:lstStyle/>
          <a:p>
            <a:fld id="{3FD0D467-1D84-9244-990E-3FFB6DF4F3B4}" type="datetimeFigureOut">
              <a:rPr lang="en-AT" smtClean="0"/>
              <a:t>27.05.26</a:t>
            </a:fld>
            <a:endParaRPr lang="en-AT"/>
          </a:p>
        </p:txBody>
      </p:sp>
      <p:sp>
        <p:nvSpPr>
          <p:cNvPr id="6" name="Footer Placeholder 5">
            <a:extLst>
              <a:ext uri="{FF2B5EF4-FFF2-40B4-BE49-F238E27FC236}">
                <a16:creationId xmlns:a16="http://schemas.microsoft.com/office/drawing/2014/main" id="{2F7717AD-E61C-2BE0-F78F-9BFAEF8CB954}"/>
              </a:ext>
            </a:extLst>
          </p:cNvPr>
          <p:cNvSpPr>
            <a:spLocks noGrp="1"/>
          </p:cNvSpPr>
          <p:nvPr>
            <p:ph type="ftr" sz="quarter" idx="11"/>
          </p:nvPr>
        </p:nvSpPr>
        <p:spPr/>
        <p:txBody>
          <a:bodyPr/>
          <a:lstStyle/>
          <a:p>
            <a:endParaRPr lang="en-AT"/>
          </a:p>
        </p:txBody>
      </p:sp>
      <p:sp>
        <p:nvSpPr>
          <p:cNvPr id="7" name="Slide Number Placeholder 6">
            <a:extLst>
              <a:ext uri="{FF2B5EF4-FFF2-40B4-BE49-F238E27FC236}">
                <a16:creationId xmlns:a16="http://schemas.microsoft.com/office/drawing/2014/main" id="{AFF5381A-4503-F878-3220-51EEAF9A4FEE}"/>
              </a:ext>
            </a:extLst>
          </p:cNvPr>
          <p:cNvSpPr>
            <a:spLocks noGrp="1"/>
          </p:cNvSpPr>
          <p:nvPr>
            <p:ph type="sldNum" sz="quarter" idx="12"/>
          </p:nvPr>
        </p:nvSpPr>
        <p:spPr/>
        <p:txBody>
          <a:bodyPr/>
          <a:lstStyle/>
          <a:p>
            <a:fld id="{915A0904-A61A-AB4E-9353-02F60D9AE474}" type="slidenum">
              <a:rPr lang="en-AT" smtClean="0"/>
              <a:t>‹#›</a:t>
            </a:fld>
            <a:endParaRPr lang="en-AT"/>
          </a:p>
        </p:txBody>
      </p:sp>
    </p:spTree>
    <p:extLst>
      <p:ext uri="{BB962C8B-B14F-4D97-AF65-F5344CB8AC3E}">
        <p14:creationId xmlns:p14="http://schemas.microsoft.com/office/powerpoint/2010/main" val="2014873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45604-A95E-A9DB-8182-824015771408}"/>
              </a:ext>
            </a:extLst>
          </p:cNvPr>
          <p:cNvSpPr>
            <a:spLocks noGrp="1"/>
          </p:cNvSpPr>
          <p:nvPr>
            <p:ph type="title"/>
          </p:nvPr>
        </p:nvSpPr>
        <p:spPr/>
        <p:txBody>
          <a:bodyPr/>
          <a:lstStyle/>
          <a:p>
            <a:r>
              <a:rPr lang="en-GB"/>
              <a:t>Click to edit Master title style</a:t>
            </a:r>
            <a:endParaRPr lang="en-AT"/>
          </a:p>
        </p:txBody>
      </p:sp>
      <p:sp>
        <p:nvSpPr>
          <p:cNvPr id="3" name="Vertical Text Placeholder 2">
            <a:extLst>
              <a:ext uri="{FF2B5EF4-FFF2-40B4-BE49-F238E27FC236}">
                <a16:creationId xmlns:a16="http://schemas.microsoft.com/office/drawing/2014/main" id="{181CCC45-1375-4D7D-6DC0-9CB6EAD5F6E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4" name="Date Placeholder 3">
            <a:extLst>
              <a:ext uri="{FF2B5EF4-FFF2-40B4-BE49-F238E27FC236}">
                <a16:creationId xmlns:a16="http://schemas.microsoft.com/office/drawing/2014/main" id="{93413E61-C6F5-32B1-C88A-9BA16E7FDC2E}"/>
              </a:ext>
            </a:extLst>
          </p:cNvPr>
          <p:cNvSpPr>
            <a:spLocks noGrp="1"/>
          </p:cNvSpPr>
          <p:nvPr>
            <p:ph type="dt" sz="half" idx="10"/>
          </p:nvPr>
        </p:nvSpPr>
        <p:spPr/>
        <p:txBody>
          <a:bodyPr/>
          <a:lstStyle/>
          <a:p>
            <a:fld id="{3FD0D467-1D84-9244-990E-3FFB6DF4F3B4}" type="datetimeFigureOut">
              <a:rPr lang="en-AT" smtClean="0"/>
              <a:t>27.05.26</a:t>
            </a:fld>
            <a:endParaRPr lang="en-AT"/>
          </a:p>
        </p:txBody>
      </p:sp>
      <p:sp>
        <p:nvSpPr>
          <p:cNvPr id="5" name="Footer Placeholder 4">
            <a:extLst>
              <a:ext uri="{FF2B5EF4-FFF2-40B4-BE49-F238E27FC236}">
                <a16:creationId xmlns:a16="http://schemas.microsoft.com/office/drawing/2014/main" id="{9CB8AA2E-332F-EDE9-A8D4-26F181806D07}"/>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F3A1C914-5A82-C5D0-7F52-975D33CA0489}"/>
              </a:ext>
            </a:extLst>
          </p:cNvPr>
          <p:cNvSpPr>
            <a:spLocks noGrp="1"/>
          </p:cNvSpPr>
          <p:nvPr>
            <p:ph type="sldNum" sz="quarter" idx="12"/>
          </p:nvPr>
        </p:nvSpPr>
        <p:spPr/>
        <p:txBody>
          <a:bodyPr/>
          <a:lstStyle/>
          <a:p>
            <a:fld id="{915A0904-A61A-AB4E-9353-02F60D9AE474}" type="slidenum">
              <a:rPr lang="en-AT" smtClean="0"/>
              <a:t>‹#›</a:t>
            </a:fld>
            <a:endParaRPr lang="en-AT"/>
          </a:p>
        </p:txBody>
      </p:sp>
    </p:spTree>
    <p:extLst>
      <p:ext uri="{BB962C8B-B14F-4D97-AF65-F5344CB8AC3E}">
        <p14:creationId xmlns:p14="http://schemas.microsoft.com/office/powerpoint/2010/main" val="2415221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713EB4-BA22-4ACA-6F2D-81A8D5A8090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T"/>
          </a:p>
        </p:txBody>
      </p:sp>
      <p:sp>
        <p:nvSpPr>
          <p:cNvPr id="3" name="Vertical Text Placeholder 2">
            <a:extLst>
              <a:ext uri="{FF2B5EF4-FFF2-40B4-BE49-F238E27FC236}">
                <a16:creationId xmlns:a16="http://schemas.microsoft.com/office/drawing/2014/main" id="{65F2E910-BA8B-47BD-2BB8-2298F64CA51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4" name="Date Placeholder 3">
            <a:extLst>
              <a:ext uri="{FF2B5EF4-FFF2-40B4-BE49-F238E27FC236}">
                <a16:creationId xmlns:a16="http://schemas.microsoft.com/office/drawing/2014/main" id="{E85F6988-B04B-FB14-E5CB-759DBA8F2EF1}"/>
              </a:ext>
            </a:extLst>
          </p:cNvPr>
          <p:cNvSpPr>
            <a:spLocks noGrp="1"/>
          </p:cNvSpPr>
          <p:nvPr>
            <p:ph type="dt" sz="half" idx="10"/>
          </p:nvPr>
        </p:nvSpPr>
        <p:spPr/>
        <p:txBody>
          <a:bodyPr/>
          <a:lstStyle/>
          <a:p>
            <a:fld id="{3FD0D467-1D84-9244-990E-3FFB6DF4F3B4}" type="datetimeFigureOut">
              <a:rPr lang="en-AT" smtClean="0"/>
              <a:t>27.05.26</a:t>
            </a:fld>
            <a:endParaRPr lang="en-AT"/>
          </a:p>
        </p:txBody>
      </p:sp>
      <p:sp>
        <p:nvSpPr>
          <p:cNvPr id="5" name="Footer Placeholder 4">
            <a:extLst>
              <a:ext uri="{FF2B5EF4-FFF2-40B4-BE49-F238E27FC236}">
                <a16:creationId xmlns:a16="http://schemas.microsoft.com/office/drawing/2014/main" id="{8A77AA30-9334-9112-EB1F-AE9777D2E4CA}"/>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7D06928E-7950-3E5F-35D2-17D3B6CCB428}"/>
              </a:ext>
            </a:extLst>
          </p:cNvPr>
          <p:cNvSpPr>
            <a:spLocks noGrp="1"/>
          </p:cNvSpPr>
          <p:nvPr>
            <p:ph type="sldNum" sz="quarter" idx="12"/>
          </p:nvPr>
        </p:nvSpPr>
        <p:spPr/>
        <p:txBody>
          <a:bodyPr/>
          <a:lstStyle/>
          <a:p>
            <a:fld id="{915A0904-A61A-AB4E-9353-02F60D9AE474}" type="slidenum">
              <a:rPr lang="en-AT" smtClean="0"/>
              <a:t>‹#›</a:t>
            </a:fld>
            <a:endParaRPr lang="en-AT"/>
          </a:p>
        </p:txBody>
      </p:sp>
    </p:spTree>
    <p:extLst>
      <p:ext uri="{BB962C8B-B14F-4D97-AF65-F5344CB8AC3E}">
        <p14:creationId xmlns:p14="http://schemas.microsoft.com/office/powerpoint/2010/main" val="4171285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CD82EC-EE5F-C4A2-EBCC-9235109046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T"/>
          </a:p>
        </p:txBody>
      </p:sp>
      <p:sp>
        <p:nvSpPr>
          <p:cNvPr id="3" name="Text Placeholder 2">
            <a:extLst>
              <a:ext uri="{FF2B5EF4-FFF2-40B4-BE49-F238E27FC236}">
                <a16:creationId xmlns:a16="http://schemas.microsoft.com/office/drawing/2014/main" id="{5F75D08A-EC7F-975D-3210-2A6D98F6F5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T"/>
          </a:p>
        </p:txBody>
      </p:sp>
      <p:sp>
        <p:nvSpPr>
          <p:cNvPr id="4" name="Date Placeholder 3">
            <a:extLst>
              <a:ext uri="{FF2B5EF4-FFF2-40B4-BE49-F238E27FC236}">
                <a16:creationId xmlns:a16="http://schemas.microsoft.com/office/drawing/2014/main" id="{87F3E2AD-1539-5C05-BF05-2917639BEC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D0D467-1D84-9244-990E-3FFB6DF4F3B4}" type="datetimeFigureOut">
              <a:rPr lang="en-AT" smtClean="0"/>
              <a:t>27.05.26</a:t>
            </a:fld>
            <a:endParaRPr lang="en-AT"/>
          </a:p>
        </p:txBody>
      </p:sp>
      <p:sp>
        <p:nvSpPr>
          <p:cNvPr id="5" name="Footer Placeholder 4">
            <a:extLst>
              <a:ext uri="{FF2B5EF4-FFF2-40B4-BE49-F238E27FC236}">
                <a16:creationId xmlns:a16="http://schemas.microsoft.com/office/drawing/2014/main" id="{822A3516-F69F-6958-BC3D-F8D7CAEB9B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T"/>
          </a:p>
        </p:txBody>
      </p:sp>
      <p:sp>
        <p:nvSpPr>
          <p:cNvPr id="6" name="Slide Number Placeholder 5">
            <a:extLst>
              <a:ext uri="{FF2B5EF4-FFF2-40B4-BE49-F238E27FC236}">
                <a16:creationId xmlns:a16="http://schemas.microsoft.com/office/drawing/2014/main" id="{4B721D85-EF3C-08F2-D348-ABBBB027A5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5A0904-A61A-AB4E-9353-02F60D9AE474}" type="slidenum">
              <a:rPr lang="en-AT" smtClean="0"/>
              <a:t>‹#›</a:t>
            </a:fld>
            <a:endParaRPr lang="en-AT"/>
          </a:p>
        </p:txBody>
      </p:sp>
    </p:spTree>
    <p:extLst>
      <p:ext uri="{BB962C8B-B14F-4D97-AF65-F5344CB8AC3E}">
        <p14:creationId xmlns:p14="http://schemas.microsoft.com/office/powerpoint/2010/main" val="2966723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KlausVigo/Mol981_2026/tree/main" TargetMode="External"/><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36252-E139-E538-8CEE-CF444F513FE4}"/>
              </a:ext>
            </a:extLst>
          </p:cNvPr>
          <p:cNvSpPr>
            <a:spLocks noGrp="1"/>
          </p:cNvSpPr>
          <p:nvPr>
            <p:ph type="ctrTitle"/>
          </p:nvPr>
        </p:nvSpPr>
        <p:spPr>
          <a:xfrm>
            <a:off x="8153400" y="1128094"/>
            <a:ext cx="3434180" cy="1415270"/>
          </a:xfrm>
        </p:spPr>
        <p:txBody>
          <a:bodyPr vert="horz" lIns="91440" tIns="45720" rIns="91440" bIns="45720" rtlCol="0" anchor="t">
            <a:noAutofit/>
          </a:bodyPr>
          <a:lstStyle/>
          <a:p>
            <a:pPr algn="l"/>
            <a:r>
              <a:rPr lang="en-US" sz="4000" dirty="0"/>
              <a:t>MAFFT and MUSCLE(S) </a:t>
            </a:r>
            <a:br>
              <a:rPr lang="en-US" sz="3000" dirty="0"/>
            </a:br>
            <a:r>
              <a:rPr lang="en-US" sz="3000" dirty="0"/>
              <a:t>Multiple Sequence Alignment Tools</a:t>
            </a:r>
          </a:p>
        </p:txBody>
      </p:sp>
      <p:pic>
        <p:nvPicPr>
          <p:cNvPr id="4098" name="Picture 2" descr="Multiple sequence alignment - Wikipedia">
            <a:extLst>
              <a:ext uri="{FF2B5EF4-FFF2-40B4-BE49-F238E27FC236}">
                <a16:creationId xmlns:a16="http://schemas.microsoft.com/office/drawing/2014/main" id="{FD6B2EF5-7B9E-2567-56FA-59D0E397B6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1512" r="6124" b="1"/>
          <a:stretch>
            <a:fillRect/>
          </a:stretch>
        </p:blipFill>
        <p:spPr bwMode="auto">
          <a:xfrm>
            <a:off x="-9886" y="10"/>
            <a:ext cx="7572605" cy="6857990"/>
          </a:xfrm>
          <a:prstGeom prst="rect">
            <a:avLst/>
          </a:prstGeom>
          <a:noFill/>
          <a:extLst>
            <a:ext uri="{909E8E84-426E-40DD-AFC4-6F175D3DCCD1}">
              <a14:hiddenFill xmlns:a14="http://schemas.microsoft.com/office/drawing/2010/main">
                <a:solidFill>
                  <a:srgbClr val="FFFFFF"/>
                </a:solidFill>
              </a14:hiddenFill>
            </a:ext>
          </a:extLst>
        </p:spPr>
      </p:pic>
      <p:cxnSp>
        <p:nvCxnSpPr>
          <p:cNvPr id="4103" name="Straight Connector 4102">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FDA82429-321F-1640-1601-E4AD30B56CB0}"/>
              </a:ext>
            </a:extLst>
          </p:cNvPr>
          <p:cNvSpPr>
            <a:spLocks noGrp="1"/>
          </p:cNvSpPr>
          <p:nvPr>
            <p:ph type="subTitle" idx="1"/>
          </p:nvPr>
        </p:nvSpPr>
        <p:spPr>
          <a:xfrm>
            <a:off x="8032830" y="3987110"/>
            <a:ext cx="4062713" cy="3999488"/>
          </a:xfrm>
        </p:spPr>
        <p:txBody>
          <a:bodyPr vert="horz" lIns="91440" tIns="45720" rIns="91440" bIns="45720" rtlCol="0" anchor="t">
            <a:normAutofit/>
          </a:bodyPr>
          <a:lstStyle/>
          <a:p>
            <a:pPr algn="l"/>
            <a:r>
              <a:rPr lang="en-US" sz="2000" dirty="0"/>
              <a:t>Presentation by Evgeniia Kachmazova and Chioma Lucy Nwachukwu </a:t>
            </a:r>
          </a:p>
          <a:p>
            <a:pPr algn="l"/>
            <a:r>
              <a:rPr lang="en-US" sz="2000" dirty="0">
                <a:hlinkClick r:id="rId3">
                  <a:extLst>
                    <a:ext uri="{A12FA001-AC4F-418D-AE19-62706E023703}">
                      <ahyp:hlinkClr xmlns:ahyp="http://schemas.microsoft.com/office/drawing/2018/hyperlinkcolor" val="tx"/>
                    </a:ext>
                  </a:extLst>
                </a:hlinkClick>
              </a:rPr>
              <a:t>Course: Computational Biotechnology (Mol981_2026</a:t>
            </a:r>
            <a:r>
              <a:rPr lang="en-US" sz="2000" dirty="0"/>
              <a:t>)</a:t>
            </a:r>
          </a:p>
          <a:p>
            <a:pPr indent="-228600" algn="l">
              <a:buFont typeface="Arial" panose="020B0604020202020204" pitchFamily="34" charset="0"/>
              <a:buChar char="•"/>
            </a:pPr>
            <a:endParaRPr lang="en-US" sz="2000" dirty="0"/>
          </a:p>
        </p:txBody>
      </p:sp>
    </p:spTree>
    <p:extLst>
      <p:ext uri="{BB962C8B-B14F-4D97-AF65-F5344CB8AC3E}">
        <p14:creationId xmlns:p14="http://schemas.microsoft.com/office/powerpoint/2010/main" val="1741913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885089-414C-400A-E284-E7499BA2FBA7}"/>
              </a:ext>
            </a:extLst>
          </p:cNvPr>
          <p:cNvSpPr>
            <a:spLocks noGrp="1"/>
          </p:cNvSpPr>
          <p:nvPr>
            <p:ph idx="1"/>
          </p:nvPr>
        </p:nvSpPr>
        <p:spPr>
          <a:xfrm>
            <a:off x="4448478" y="767868"/>
            <a:ext cx="7472767" cy="5675313"/>
          </a:xfrm>
        </p:spPr>
        <p:txBody>
          <a:bodyPr vert="horz" lIns="91440" tIns="45720" rIns="91440" bIns="45720" rtlCol="0" anchor="t">
            <a:normAutofit/>
          </a:bodyPr>
          <a:lstStyle/>
          <a:p>
            <a:pPr marL="0" indent="0">
              <a:buNone/>
            </a:pPr>
            <a:r>
              <a:rPr lang="en-GB" sz="3000" b="1" dirty="0"/>
              <a:t>Multiple Sequence Alignment (MSA) </a:t>
            </a:r>
            <a:r>
              <a:rPr lang="en-GB" sz="3000" dirty="0"/>
              <a:t>is the alignment of three or more biological sequences (protein or nucleic acid) of similar length. From the output, homology can be inferred and the evolutionary relationships, as well as structural and functional similarities between the sequences can be studied. </a:t>
            </a:r>
          </a:p>
          <a:p>
            <a:pPr marL="0" indent="0">
              <a:buNone/>
            </a:pPr>
            <a:endParaRPr lang="en-GB" sz="3000" dirty="0"/>
          </a:p>
          <a:p>
            <a:r>
              <a:rPr lang="en-GB" sz="2600" dirty="0"/>
              <a:t>I</a:t>
            </a:r>
            <a:r>
              <a:rPr lang="en-AT" sz="2600" dirty="0"/>
              <a:t>nput: unaligned sequences </a:t>
            </a:r>
          </a:p>
          <a:p>
            <a:r>
              <a:rPr lang="en-AT" sz="2600" dirty="0"/>
              <a:t>Output: aligned sequences</a:t>
            </a:r>
          </a:p>
          <a:p>
            <a:pPr marL="0" indent="0">
              <a:buNone/>
            </a:pPr>
            <a:endParaRPr lang="en-US" sz="3500" dirty="0"/>
          </a:p>
        </p:txBody>
      </p:sp>
      <p:pic>
        <p:nvPicPr>
          <p:cNvPr id="5" name="Picture 4" descr="A diagram of a diagram&#10;&#10;Description automatically generated">
            <a:extLst>
              <a:ext uri="{FF2B5EF4-FFF2-40B4-BE49-F238E27FC236}">
                <a16:creationId xmlns:a16="http://schemas.microsoft.com/office/drawing/2014/main" id="{D23D1755-28EF-C1DB-C7B5-1F23DF6BC2EB}"/>
              </a:ext>
            </a:extLst>
          </p:cNvPr>
          <p:cNvPicPr>
            <a:picLocks noChangeAspect="1"/>
          </p:cNvPicPr>
          <p:nvPr/>
        </p:nvPicPr>
        <p:blipFill>
          <a:blip r:embed="rId3"/>
          <a:stretch>
            <a:fillRect/>
          </a:stretch>
        </p:blipFill>
        <p:spPr>
          <a:xfrm>
            <a:off x="689278" y="501650"/>
            <a:ext cx="3759200" cy="5854700"/>
          </a:xfrm>
          <a:prstGeom prst="rect">
            <a:avLst/>
          </a:prstGeom>
        </p:spPr>
      </p:pic>
    </p:spTree>
    <p:extLst>
      <p:ext uri="{BB962C8B-B14F-4D97-AF65-F5344CB8AC3E}">
        <p14:creationId xmlns:p14="http://schemas.microsoft.com/office/powerpoint/2010/main" val="3447276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F1F9A-3AD9-36B7-9E66-EC08D910BFC6}"/>
              </a:ext>
            </a:extLst>
          </p:cNvPr>
          <p:cNvSpPr>
            <a:spLocks noGrp="1"/>
          </p:cNvSpPr>
          <p:nvPr>
            <p:ph type="title"/>
          </p:nvPr>
        </p:nvSpPr>
        <p:spPr/>
        <p:txBody>
          <a:bodyPr/>
          <a:lstStyle/>
          <a:p>
            <a:r>
              <a:rPr lang="en-US" dirty="0"/>
              <a:t>Single Gene Mutations </a:t>
            </a:r>
          </a:p>
        </p:txBody>
      </p:sp>
      <p:pic>
        <p:nvPicPr>
          <p:cNvPr id="4" name="Content Placeholder 3" descr="Single gene mutations - Revise: Genome and mutations - Higher Biology  Revision - BBC Bitesize">
            <a:extLst>
              <a:ext uri="{FF2B5EF4-FFF2-40B4-BE49-F238E27FC236}">
                <a16:creationId xmlns:a16="http://schemas.microsoft.com/office/drawing/2014/main" id="{EF7D6C93-3D1A-B768-5706-3E64D6676D69}"/>
              </a:ext>
            </a:extLst>
          </p:cNvPr>
          <p:cNvPicPr>
            <a:picLocks noGrp="1" noChangeAspect="1"/>
          </p:cNvPicPr>
          <p:nvPr>
            <p:ph sz="half" idx="1"/>
          </p:nvPr>
        </p:nvPicPr>
        <p:blipFill>
          <a:blip r:embed="rId2"/>
          <a:stretch>
            <a:fillRect/>
          </a:stretch>
        </p:blipFill>
        <p:spPr>
          <a:xfrm>
            <a:off x="1916349" y="1568804"/>
            <a:ext cx="3014493" cy="4335361"/>
          </a:xfrm>
          <a:prstGeom prst="rect">
            <a:avLst/>
          </a:prstGeom>
        </p:spPr>
      </p:pic>
      <p:sp>
        <p:nvSpPr>
          <p:cNvPr id="5" name="Content Placeholder 4">
            <a:extLst>
              <a:ext uri="{FF2B5EF4-FFF2-40B4-BE49-F238E27FC236}">
                <a16:creationId xmlns:a16="http://schemas.microsoft.com/office/drawing/2014/main" id="{7FDB0460-EDBA-9389-525A-7BEF05FFFFDB}"/>
              </a:ext>
            </a:extLst>
          </p:cNvPr>
          <p:cNvSpPr>
            <a:spLocks noGrp="1"/>
          </p:cNvSpPr>
          <p:nvPr>
            <p:ph sz="half" idx="2"/>
          </p:nvPr>
        </p:nvSpPr>
        <p:spPr>
          <a:xfrm>
            <a:off x="6096541" y="1568804"/>
            <a:ext cx="5684195" cy="4824329"/>
          </a:xfrm>
        </p:spPr>
        <p:txBody>
          <a:bodyPr vert="horz" lIns="91440" tIns="45720" rIns="91440" bIns="45720" rtlCol="0" anchor="t">
            <a:normAutofit/>
          </a:bodyPr>
          <a:lstStyle/>
          <a:p>
            <a:pPr>
              <a:buNone/>
            </a:pPr>
            <a:r>
              <a:rPr lang="en-US" dirty="0">
                <a:ea typeface="+mn-lt"/>
                <a:cs typeface="+mn-lt"/>
              </a:rPr>
              <a:t>	Sequence alignments reveal evolutionary changes such as point mutations, insertions, and deletions, and help identify conserved regions and protein domains</a:t>
            </a:r>
          </a:p>
          <a:p>
            <a:pPr>
              <a:buNone/>
            </a:pPr>
            <a:endParaRPr lang="en-US" dirty="0">
              <a:ea typeface="+mn-lt"/>
              <a:cs typeface="+mn-lt"/>
            </a:endParaRPr>
          </a:p>
          <a:p>
            <a:pPr>
              <a:buNone/>
            </a:pPr>
            <a:r>
              <a:rPr lang="en-US" dirty="0">
                <a:ea typeface="+mn-lt"/>
                <a:cs typeface="+mn-lt"/>
              </a:rPr>
              <a:t>	</a:t>
            </a:r>
            <a:endParaRPr lang="en-US" dirty="0"/>
          </a:p>
        </p:txBody>
      </p:sp>
    </p:spTree>
    <p:extLst>
      <p:ext uri="{BB962C8B-B14F-4D97-AF65-F5344CB8AC3E}">
        <p14:creationId xmlns:p14="http://schemas.microsoft.com/office/powerpoint/2010/main" val="2772273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C33DE-306E-B224-603B-ECDC16190905}"/>
              </a:ext>
            </a:extLst>
          </p:cNvPr>
          <p:cNvSpPr>
            <a:spLocks noGrp="1"/>
          </p:cNvSpPr>
          <p:nvPr>
            <p:ph type="title"/>
          </p:nvPr>
        </p:nvSpPr>
        <p:spPr/>
        <p:txBody>
          <a:bodyPr/>
          <a:lstStyle/>
          <a:p>
            <a:r>
              <a:rPr lang="en-AT" dirty="0"/>
              <a:t>Interpreation of MSA</a:t>
            </a:r>
          </a:p>
        </p:txBody>
      </p:sp>
      <p:sp>
        <p:nvSpPr>
          <p:cNvPr id="3" name="Content Placeholder 2">
            <a:extLst>
              <a:ext uri="{FF2B5EF4-FFF2-40B4-BE49-F238E27FC236}">
                <a16:creationId xmlns:a16="http://schemas.microsoft.com/office/drawing/2014/main" id="{897DD71F-6731-3591-7D9E-B06F9CC2F3B3}"/>
              </a:ext>
            </a:extLst>
          </p:cNvPr>
          <p:cNvSpPr>
            <a:spLocks noGrp="1"/>
          </p:cNvSpPr>
          <p:nvPr>
            <p:ph idx="1"/>
          </p:nvPr>
        </p:nvSpPr>
        <p:spPr>
          <a:xfrm>
            <a:off x="838200" y="1432086"/>
            <a:ext cx="10515600" cy="4864542"/>
          </a:xfrm>
        </p:spPr>
        <p:txBody>
          <a:bodyPr>
            <a:normAutofit/>
          </a:bodyPr>
          <a:lstStyle/>
          <a:p>
            <a:r>
              <a:rPr lang="en-GB" sz="2800" dirty="0">
                <a:solidFill>
                  <a:srgbClr val="000000"/>
                </a:solidFill>
              </a:rPr>
              <a:t>Conserved regions stay unchanged between sequences</a:t>
            </a:r>
          </a:p>
          <a:p>
            <a:pPr marL="0" indent="0">
              <a:buNone/>
            </a:pPr>
            <a:r>
              <a:rPr lang="en-GB" sz="2800" dirty="0">
                <a:solidFill>
                  <a:srgbClr val="000000"/>
                </a:solidFill>
              </a:rPr>
              <a:t> </a:t>
            </a:r>
          </a:p>
          <a:p>
            <a:r>
              <a:rPr lang="en-US" dirty="0">
                <a:ea typeface="+mn-lt"/>
                <a:cs typeface="+mn-lt"/>
              </a:rPr>
              <a:t>Indels mutations are represented as gaps </a:t>
            </a:r>
          </a:p>
          <a:p>
            <a:pPr lvl="1"/>
            <a:r>
              <a:rPr lang="en-GB" b="0" i="0" u="none" strike="noStrike" dirty="0">
                <a:solidFill>
                  <a:srgbClr val="000000"/>
                </a:solidFill>
                <a:effectLst/>
              </a:rPr>
              <a:t>Sequence A: </a:t>
            </a:r>
            <a:r>
              <a:rPr lang="en-GB" dirty="0"/>
              <a:t>MKTAA</a:t>
            </a:r>
          </a:p>
          <a:p>
            <a:pPr lvl="1"/>
            <a:r>
              <a:rPr lang="en-GB" b="0" i="0" u="none" strike="noStrike" dirty="0">
                <a:solidFill>
                  <a:srgbClr val="000000"/>
                </a:solidFill>
                <a:effectLst/>
              </a:rPr>
              <a:t>Sequence B: </a:t>
            </a:r>
            <a:r>
              <a:rPr lang="en-GB" dirty="0"/>
              <a:t>MKTTAA</a:t>
            </a:r>
          </a:p>
          <a:p>
            <a:pPr lvl="1"/>
            <a:r>
              <a:rPr lang="en-GB" b="0" i="0" u="none" strike="noStrike" dirty="0">
                <a:solidFill>
                  <a:srgbClr val="000000"/>
                </a:solidFill>
                <a:effectLst/>
              </a:rPr>
              <a:t>To align them:</a:t>
            </a:r>
          </a:p>
          <a:p>
            <a:pPr lvl="1"/>
            <a:r>
              <a:rPr lang="en-GB" dirty="0"/>
              <a:t>MKT-AA</a:t>
            </a:r>
            <a:br>
              <a:rPr lang="en-GB" dirty="0"/>
            </a:br>
            <a:r>
              <a:rPr lang="en-GB" dirty="0"/>
              <a:t>MKTTAA</a:t>
            </a:r>
          </a:p>
          <a:p>
            <a:pPr algn="l"/>
            <a:r>
              <a:rPr lang="en-GB" b="0" i="0" u="none" strike="noStrike" dirty="0">
                <a:solidFill>
                  <a:srgbClr val="000000"/>
                </a:solidFill>
                <a:effectLst/>
              </a:rPr>
              <a:t>The gap suggests:</a:t>
            </a:r>
          </a:p>
          <a:p>
            <a:pPr lvl="1"/>
            <a:r>
              <a:rPr lang="en-GB" b="0" i="0" u="none" strike="noStrike" dirty="0">
                <a:solidFill>
                  <a:srgbClr val="000000"/>
                </a:solidFill>
                <a:effectLst/>
              </a:rPr>
              <a:t>either Sequence A lost a residue,</a:t>
            </a:r>
          </a:p>
          <a:p>
            <a:pPr lvl="1"/>
            <a:r>
              <a:rPr lang="en-GB" b="0" i="0" u="none" strike="noStrike" dirty="0">
                <a:solidFill>
                  <a:srgbClr val="000000"/>
                </a:solidFill>
                <a:effectLst/>
              </a:rPr>
              <a:t>or Sequence B gained one during evolution</a:t>
            </a:r>
          </a:p>
          <a:p>
            <a:pPr marL="457200" lvl="1" indent="0">
              <a:buNone/>
            </a:pPr>
            <a:endParaRPr lang="en-GB" dirty="0">
              <a:solidFill>
                <a:srgbClr val="000000"/>
              </a:solidFill>
            </a:endParaRPr>
          </a:p>
          <a:p>
            <a:pPr lvl="1"/>
            <a:endParaRPr lang="en-GB" b="0" i="0" u="none" strike="noStrike" dirty="0">
              <a:solidFill>
                <a:srgbClr val="000000"/>
              </a:solidFill>
              <a:effectLst/>
            </a:endParaRPr>
          </a:p>
          <a:p>
            <a:pPr lvl="1"/>
            <a:endParaRPr lang="en-US" dirty="0"/>
          </a:p>
          <a:p>
            <a:endParaRPr lang="en-AT" dirty="0"/>
          </a:p>
        </p:txBody>
      </p:sp>
      <p:pic>
        <p:nvPicPr>
          <p:cNvPr id="4" name="Content Placeholder 7" descr="A cut out of a coupon&#10;&#10;AI-generated content may be incorrect.">
            <a:extLst>
              <a:ext uri="{FF2B5EF4-FFF2-40B4-BE49-F238E27FC236}">
                <a16:creationId xmlns:a16="http://schemas.microsoft.com/office/drawing/2014/main" id="{3279D6A0-EA96-F8F2-FB4A-CD2352044270}"/>
              </a:ext>
            </a:extLst>
          </p:cNvPr>
          <p:cNvPicPr>
            <a:picLocks noChangeAspect="1"/>
          </p:cNvPicPr>
          <p:nvPr/>
        </p:nvPicPr>
        <p:blipFill>
          <a:blip r:embed="rId2"/>
          <a:stretch>
            <a:fillRect/>
          </a:stretch>
        </p:blipFill>
        <p:spPr>
          <a:xfrm>
            <a:off x="1307431" y="1985222"/>
            <a:ext cx="7635196" cy="360936"/>
          </a:xfrm>
          <a:prstGeom prst="rect">
            <a:avLst/>
          </a:prstGeom>
        </p:spPr>
      </p:pic>
    </p:spTree>
    <p:extLst>
      <p:ext uri="{BB962C8B-B14F-4D97-AF65-F5344CB8AC3E}">
        <p14:creationId xmlns:p14="http://schemas.microsoft.com/office/powerpoint/2010/main" val="180861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B59F4-EC33-53DB-2A1A-5BF4FF14EFA8}"/>
              </a:ext>
            </a:extLst>
          </p:cNvPr>
          <p:cNvSpPr>
            <a:spLocks noGrp="1"/>
          </p:cNvSpPr>
          <p:nvPr>
            <p:ph type="title"/>
          </p:nvPr>
        </p:nvSpPr>
        <p:spPr>
          <a:xfrm>
            <a:off x="838200" y="174241"/>
            <a:ext cx="10515600" cy="1325563"/>
          </a:xfrm>
        </p:spPr>
        <p:txBody>
          <a:bodyPr/>
          <a:lstStyle/>
          <a:p>
            <a:r>
              <a:rPr lang="en-US" dirty="0"/>
              <a:t>MUSCLE</a:t>
            </a:r>
          </a:p>
        </p:txBody>
      </p:sp>
      <p:pic>
        <p:nvPicPr>
          <p:cNvPr id="7" name="Picture 6" descr="A screenshot of a computer&#10;&#10;Description automatically generated">
            <a:extLst>
              <a:ext uri="{FF2B5EF4-FFF2-40B4-BE49-F238E27FC236}">
                <a16:creationId xmlns:a16="http://schemas.microsoft.com/office/drawing/2014/main" id="{D986D249-41B7-3E37-DC93-943DBA377848}"/>
              </a:ext>
            </a:extLst>
          </p:cNvPr>
          <p:cNvPicPr>
            <a:picLocks noChangeAspect="1"/>
          </p:cNvPicPr>
          <p:nvPr/>
        </p:nvPicPr>
        <p:blipFill>
          <a:blip r:embed="rId2"/>
          <a:stretch>
            <a:fillRect/>
          </a:stretch>
        </p:blipFill>
        <p:spPr>
          <a:xfrm>
            <a:off x="2177738" y="1206423"/>
            <a:ext cx="7772400" cy="4773472"/>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EC7B5F68-271F-9C0D-C29F-34374AF2ADC1}"/>
              </a:ext>
            </a:extLst>
          </p:cNvPr>
          <p:cNvPicPr>
            <a:picLocks noGrp="1" noChangeAspect="1"/>
          </p:cNvPicPr>
          <p:nvPr>
            <p:ph idx="1"/>
          </p:nvPr>
        </p:nvPicPr>
        <p:blipFill>
          <a:blip r:embed="rId3"/>
          <a:stretch>
            <a:fillRect/>
          </a:stretch>
        </p:blipFill>
        <p:spPr>
          <a:xfrm>
            <a:off x="1333818" y="1061450"/>
            <a:ext cx="8798088" cy="5356800"/>
          </a:xfrm>
          <a:prstGeom prst="rect">
            <a:avLst/>
          </a:prstGeom>
        </p:spPr>
      </p:pic>
    </p:spTree>
    <p:extLst>
      <p:ext uri="{BB962C8B-B14F-4D97-AF65-F5344CB8AC3E}">
        <p14:creationId xmlns:p14="http://schemas.microsoft.com/office/powerpoint/2010/main" val="3490764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9EF9DF-74C6-6F40-0580-5760512B25D2}"/>
              </a:ext>
            </a:extLst>
          </p:cNvPr>
          <p:cNvSpPr>
            <a:spLocks noGrp="1"/>
          </p:cNvSpPr>
          <p:nvPr>
            <p:ph type="title"/>
          </p:nvPr>
        </p:nvSpPr>
        <p:spPr>
          <a:xfrm>
            <a:off x="1365713" y="242030"/>
            <a:ext cx="9795638" cy="1114380"/>
          </a:xfrm>
        </p:spPr>
        <p:txBody>
          <a:bodyPr vert="horz" lIns="91440" tIns="45720" rIns="91440" bIns="45720" rtlCol="0" anchor="b">
            <a:normAutofit/>
          </a:bodyPr>
          <a:lstStyle/>
          <a:p>
            <a:pPr algn="ctr"/>
            <a:r>
              <a:rPr lang="en-US" dirty="0"/>
              <a:t>MAFFT: MSA with different penalty factors</a:t>
            </a:r>
          </a:p>
        </p:txBody>
      </p:sp>
      <p:pic>
        <p:nvPicPr>
          <p:cNvPr id="6" name="Content Placeholder 5" descr="A screenshot of a computer&#10;&#10;AI-generated content may be incorrect.">
            <a:extLst>
              <a:ext uri="{FF2B5EF4-FFF2-40B4-BE49-F238E27FC236}">
                <a16:creationId xmlns:a16="http://schemas.microsoft.com/office/drawing/2014/main" id="{6F0EEB52-2D06-003E-D7DB-754670D662EA}"/>
              </a:ext>
            </a:extLst>
          </p:cNvPr>
          <p:cNvPicPr>
            <a:picLocks noGrp="1" noChangeAspect="1"/>
          </p:cNvPicPr>
          <p:nvPr>
            <p:ph sz="half" idx="2"/>
          </p:nvPr>
        </p:nvPicPr>
        <p:blipFill>
          <a:blip r:embed="rId2"/>
          <a:srcRect t="2343" r="44763" b="12213"/>
          <a:stretch>
            <a:fillRect/>
          </a:stretch>
        </p:blipFill>
        <p:spPr>
          <a:xfrm>
            <a:off x="6138755" y="1567630"/>
            <a:ext cx="5626614" cy="3901897"/>
          </a:xfrm>
          <a:prstGeom prst="rect">
            <a:avLst/>
          </a:prstGeom>
        </p:spPr>
      </p:pic>
      <p:pic>
        <p:nvPicPr>
          <p:cNvPr id="5" name="Content Placeholder 4" descr="A screenshot of a computer&#10;&#10;AI-generated content may be incorrect.">
            <a:extLst>
              <a:ext uri="{FF2B5EF4-FFF2-40B4-BE49-F238E27FC236}">
                <a16:creationId xmlns:a16="http://schemas.microsoft.com/office/drawing/2014/main" id="{266B7AC1-1722-2F93-4E46-3D9B99314B3D}"/>
              </a:ext>
            </a:extLst>
          </p:cNvPr>
          <p:cNvPicPr>
            <a:picLocks noGrp="1" noChangeAspect="1"/>
          </p:cNvPicPr>
          <p:nvPr>
            <p:ph sz="half" idx="1"/>
          </p:nvPr>
        </p:nvPicPr>
        <p:blipFill>
          <a:blip r:embed="rId3"/>
          <a:srcRect l="-542" t="1337" r="38219"/>
          <a:stretch>
            <a:fillRect/>
          </a:stretch>
        </p:blipFill>
        <p:spPr>
          <a:xfrm>
            <a:off x="468329" y="1567630"/>
            <a:ext cx="5502249" cy="3899162"/>
          </a:xfrm>
          <a:prstGeom prst="rect">
            <a:avLst/>
          </a:prstGeom>
        </p:spPr>
      </p:pic>
      <p:sp>
        <p:nvSpPr>
          <p:cNvPr id="7" name="TextBox 6">
            <a:extLst>
              <a:ext uri="{FF2B5EF4-FFF2-40B4-BE49-F238E27FC236}">
                <a16:creationId xmlns:a16="http://schemas.microsoft.com/office/drawing/2014/main" id="{599E21CC-C1DB-2F34-C0FB-C5D8E49CC818}"/>
              </a:ext>
            </a:extLst>
          </p:cNvPr>
          <p:cNvSpPr txBox="1"/>
          <p:nvPr/>
        </p:nvSpPr>
        <p:spPr>
          <a:xfrm>
            <a:off x="468329" y="5562225"/>
            <a:ext cx="532562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Gap opening penalty = 1</a:t>
            </a:r>
          </a:p>
        </p:txBody>
      </p:sp>
      <p:sp>
        <p:nvSpPr>
          <p:cNvPr id="8" name="TextBox 7">
            <a:extLst>
              <a:ext uri="{FF2B5EF4-FFF2-40B4-BE49-F238E27FC236}">
                <a16:creationId xmlns:a16="http://schemas.microsoft.com/office/drawing/2014/main" id="{A163D27F-2941-E469-B45C-19B981D08A00}"/>
              </a:ext>
            </a:extLst>
          </p:cNvPr>
          <p:cNvSpPr txBox="1"/>
          <p:nvPr/>
        </p:nvSpPr>
        <p:spPr>
          <a:xfrm>
            <a:off x="6182468" y="556368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aseline="0" dirty="0">
                <a:latin typeface="Aptos"/>
              </a:rPr>
              <a:t>Gap opening penalty = </a:t>
            </a:r>
            <a:r>
              <a:rPr lang="en-US" sz="2000" dirty="0">
                <a:latin typeface="Aptos"/>
              </a:rPr>
              <a:t>5</a:t>
            </a:r>
            <a:endParaRPr lang="en-US" sz="2000" dirty="0"/>
          </a:p>
          <a:p>
            <a:pPr algn="ctr"/>
            <a:endParaRPr lang="en-US" dirty="0"/>
          </a:p>
        </p:txBody>
      </p:sp>
      <p:pic>
        <p:nvPicPr>
          <p:cNvPr id="3" name="Picture 2" descr="MAFFT alignment and NJ / UPGMA phylogeny">
            <a:extLst>
              <a:ext uri="{FF2B5EF4-FFF2-40B4-BE49-F238E27FC236}">
                <a16:creationId xmlns:a16="http://schemas.microsoft.com/office/drawing/2014/main" id="{DA978689-0184-AF65-E55C-E5912A3345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564520" y="503892"/>
            <a:ext cx="801193" cy="78354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2311B442-1CDC-D8A4-7072-C1942C325E0D}"/>
              </a:ext>
            </a:extLst>
          </p:cNvPr>
          <p:cNvPicPr>
            <a:picLocks noChangeAspect="1"/>
          </p:cNvPicPr>
          <p:nvPr/>
        </p:nvPicPr>
        <p:blipFill>
          <a:blip r:embed="rId5"/>
          <a:stretch>
            <a:fillRect/>
          </a:stretch>
        </p:blipFill>
        <p:spPr>
          <a:xfrm>
            <a:off x="187417" y="1938023"/>
            <a:ext cx="11731658" cy="2909451"/>
          </a:xfrm>
          <a:prstGeom prst="rect">
            <a:avLst/>
          </a:prstGeom>
        </p:spPr>
      </p:pic>
    </p:spTree>
    <p:extLst>
      <p:ext uri="{BB962C8B-B14F-4D97-AF65-F5344CB8AC3E}">
        <p14:creationId xmlns:p14="http://schemas.microsoft.com/office/powerpoint/2010/main" val="20809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6E94C-B639-7ADC-4169-FF0BDA73969A}"/>
              </a:ext>
            </a:extLst>
          </p:cNvPr>
          <p:cNvSpPr>
            <a:spLocks noGrp="1"/>
          </p:cNvSpPr>
          <p:nvPr>
            <p:ph type="title"/>
          </p:nvPr>
        </p:nvSpPr>
        <p:spPr/>
        <p:txBody>
          <a:bodyPr/>
          <a:lstStyle/>
          <a:p>
            <a:r>
              <a:rPr lang="en-US" dirty="0"/>
              <a:t>Comparison of Alignments</a:t>
            </a:r>
          </a:p>
        </p:txBody>
      </p:sp>
      <p:sp>
        <p:nvSpPr>
          <p:cNvPr id="3" name="Content Placeholder 2">
            <a:extLst>
              <a:ext uri="{FF2B5EF4-FFF2-40B4-BE49-F238E27FC236}">
                <a16:creationId xmlns:a16="http://schemas.microsoft.com/office/drawing/2014/main" id="{8B0EC472-5A26-9DBB-5CCA-C22D7A1F63D3}"/>
              </a:ext>
            </a:extLst>
          </p:cNvPr>
          <p:cNvSpPr>
            <a:spLocks noGrp="1"/>
          </p:cNvSpPr>
          <p:nvPr>
            <p:ph sz="half" idx="1"/>
          </p:nvPr>
        </p:nvSpPr>
        <p:spPr>
          <a:xfrm>
            <a:off x="838200" y="2506662"/>
            <a:ext cx="5181600" cy="4351338"/>
          </a:xfrm>
        </p:spPr>
        <p:txBody>
          <a:bodyPr vert="horz" lIns="91440" tIns="45720" rIns="91440" bIns="45720" rtlCol="0" anchor="t">
            <a:normAutofit/>
          </a:bodyPr>
          <a:lstStyle/>
          <a:p>
            <a:pPr marL="0" indent="0" algn="ctr">
              <a:buNone/>
            </a:pPr>
            <a:r>
              <a:rPr lang="en-US" dirty="0"/>
              <a:t>MUSCLE</a:t>
            </a:r>
          </a:p>
          <a:p>
            <a:pPr marL="0" indent="0">
              <a:buNone/>
            </a:pPr>
            <a:endParaRPr lang="en-US" dirty="0"/>
          </a:p>
          <a:p>
            <a:pPr>
              <a:buFont typeface="Calibri" panose="020B0604020202020204" pitchFamily="34" charset="0"/>
              <a:buChar char="-"/>
            </a:pPr>
            <a:endParaRPr lang="en-US" dirty="0"/>
          </a:p>
          <a:p>
            <a:pPr>
              <a:buFont typeface="Calibri" panose="020B0604020202020204" pitchFamily="34" charset="0"/>
              <a:buChar char="-"/>
            </a:pPr>
            <a:endParaRPr lang="en-US" dirty="0"/>
          </a:p>
          <a:p>
            <a:pPr>
              <a:buFont typeface="Calibri" panose="020B0604020202020204" pitchFamily="34" charset="0"/>
              <a:buChar char="-"/>
            </a:pPr>
            <a:endParaRPr lang="en-US" dirty="0"/>
          </a:p>
        </p:txBody>
      </p:sp>
      <p:sp>
        <p:nvSpPr>
          <p:cNvPr id="4" name="Content Placeholder 3">
            <a:extLst>
              <a:ext uri="{FF2B5EF4-FFF2-40B4-BE49-F238E27FC236}">
                <a16:creationId xmlns:a16="http://schemas.microsoft.com/office/drawing/2014/main" id="{3CD7EC91-4BDF-1EC5-A445-8A2283E82554}"/>
              </a:ext>
            </a:extLst>
          </p:cNvPr>
          <p:cNvSpPr>
            <a:spLocks noGrp="1"/>
          </p:cNvSpPr>
          <p:nvPr>
            <p:ph sz="half" idx="2"/>
          </p:nvPr>
        </p:nvSpPr>
        <p:spPr>
          <a:xfrm>
            <a:off x="6172200" y="2506662"/>
            <a:ext cx="5181600" cy="4351338"/>
          </a:xfrm>
        </p:spPr>
        <p:txBody>
          <a:bodyPr vert="horz" lIns="91440" tIns="45720" rIns="91440" bIns="45720" rtlCol="0" anchor="t">
            <a:normAutofit/>
          </a:bodyPr>
          <a:lstStyle/>
          <a:p>
            <a:pPr marL="0" indent="0" algn="ctr">
              <a:buNone/>
            </a:pPr>
            <a:r>
              <a:rPr lang="en-US" dirty="0"/>
              <a:t>MAFFT</a:t>
            </a:r>
          </a:p>
        </p:txBody>
      </p:sp>
      <p:pic>
        <p:nvPicPr>
          <p:cNvPr id="6" name="Content Placeholder 7" descr="A cut out of a coupon&#10;&#10;AI-generated content may be incorrect.">
            <a:extLst>
              <a:ext uri="{FF2B5EF4-FFF2-40B4-BE49-F238E27FC236}">
                <a16:creationId xmlns:a16="http://schemas.microsoft.com/office/drawing/2014/main" id="{4C491E1E-E5D8-D62E-F747-C24681E18A64}"/>
              </a:ext>
            </a:extLst>
          </p:cNvPr>
          <p:cNvPicPr>
            <a:picLocks noChangeAspect="1"/>
          </p:cNvPicPr>
          <p:nvPr/>
        </p:nvPicPr>
        <p:blipFill>
          <a:blip r:embed="rId2"/>
          <a:stretch>
            <a:fillRect/>
          </a:stretch>
        </p:blipFill>
        <p:spPr>
          <a:xfrm>
            <a:off x="838200" y="3080095"/>
            <a:ext cx="5181600" cy="244948"/>
          </a:xfrm>
          <a:prstGeom prst="rect">
            <a:avLst/>
          </a:prstGeom>
        </p:spPr>
      </p:pic>
      <p:pic>
        <p:nvPicPr>
          <p:cNvPr id="8" name="Picture 7" descr="A black lines on a white background&#10;&#10;AI-generated content may be incorrect.">
            <a:extLst>
              <a:ext uri="{FF2B5EF4-FFF2-40B4-BE49-F238E27FC236}">
                <a16:creationId xmlns:a16="http://schemas.microsoft.com/office/drawing/2014/main" id="{4E57757B-49E3-31FE-3370-787D592FFEBF}"/>
              </a:ext>
            </a:extLst>
          </p:cNvPr>
          <p:cNvPicPr>
            <a:picLocks noChangeAspect="1"/>
          </p:cNvPicPr>
          <p:nvPr/>
        </p:nvPicPr>
        <p:blipFill>
          <a:blip r:embed="rId3"/>
          <a:stretch>
            <a:fillRect/>
          </a:stretch>
        </p:blipFill>
        <p:spPr>
          <a:xfrm>
            <a:off x="6293347" y="2993626"/>
            <a:ext cx="5448841" cy="331417"/>
          </a:xfrm>
          <a:prstGeom prst="rect">
            <a:avLst/>
          </a:prstGeom>
        </p:spPr>
      </p:pic>
      <p:sp>
        <p:nvSpPr>
          <p:cNvPr id="5" name="TextBox 4">
            <a:extLst>
              <a:ext uri="{FF2B5EF4-FFF2-40B4-BE49-F238E27FC236}">
                <a16:creationId xmlns:a16="http://schemas.microsoft.com/office/drawing/2014/main" id="{6234CC5F-592C-9C32-15E9-82D90D7761A7}"/>
              </a:ext>
            </a:extLst>
          </p:cNvPr>
          <p:cNvSpPr txBox="1"/>
          <p:nvPr/>
        </p:nvSpPr>
        <p:spPr>
          <a:xfrm>
            <a:off x="943895" y="3898476"/>
            <a:ext cx="10874479" cy="923330"/>
          </a:xfrm>
          <a:prstGeom prst="rect">
            <a:avLst/>
          </a:prstGeom>
          <a:noFill/>
        </p:spPr>
        <p:txBody>
          <a:bodyPr wrap="square" rtlCol="0">
            <a:spAutoFit/>
          </a:bodyPr>
          <a:lstStyle/>
          <a:p>
            <a:r>
              <a:rPr lang="en-GB" b="0" i="0" u="none" strike="noStrike" dirty="0">
                <a:solidFill>
                  <a:srgbClr val="000000"/>
                </a:solidFill>
                <a:effectLst/>
                <a:latin typeface="-webkit-standard"/>
              </a:rPr>
              <a:t>MAFFT produced a more compact and interpretable alignment, while MUSCLE introduced more local gaps in variable regions. Both tools identified the same conserved motif, but MAFFT appeared more stable for this larger protein dataset.</a:t>
            </a:r>
            <a:endParaRPr lang="en-AT" dirty="0"/>
          </a:p>
        </p:txBody>
      </p:sp>
    </p:spTree>
    <p:extLst>
      <p:ext uri="{BB962C8B-B14F-4D97-AF65-F5344CB8AC3E}">
        <p14:creationId xmlns:p14="http://schemas.microsoft.com/office/powerpoint/2010/main" val="3239653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D22EE-8B24-2632-2D59-50FC8F421143}"/>
              </a:ext>
            </a:extLst>
          </p:cNvPr>
          <p:cNvSpPr>
            <a:spLocks noGrp="1"/>
          </p:cNvSpPr>
          <p:nvPr>
            <p:ph type="title"/>
          </p:nvPr>
        </p:nvSpPr>
        <p:spPr/>
        <p:txBody>
          <a:bodyPr/>
          <a:lstStyle/>
          <a:p>
            <a:r>
              <a:rPr lang="en-US" sz="3400" dirty="0">
                <a:solidFill>
                  <a:srgbClr val="1A1A1A"/>
                </a:solidFill>
                <a:ea typeface="Calibri"/>
                <a:cs typeface="Calibri"/>
              </a:rPr>
              <a:t>How MAFFT Works</a:t>
            </a:r>
            <a:br>
              <a:rPr lang="en-US" sz="3400" dirty="0">
                <a:solidFill>
                  <a:srgbClr val="1A1A1A"/>
                </a:solidFill>
                <a:ea typeface="Calibri"/>
                <a:cs typeface="Calibri"/>
              </a:rPr>
            </a:br>
            <a:r>
              <a:rPr lang="en-US" sz="1300" i="1" dirty="0">
                <a:solidFill>
                  <a:srgbClr val="555555"/>
                </a:solidFill>
                <a:ea typeface="Calibri"/>
                <a:cs typeface="Calibri"/>
              </a:rPr>
              <a:t>Multiple Alignment using Fast Fourier Transform</a:t>
            </a:r>
            <a:endParaRPr lang="en-US" dirty="0"/>
          </a:p>
        </p:txBody>
      </p:sp>
      <p:sp>
        <p:nvSpPr>
          <p:cNvPr id="3" name="Content Placeholder 2">
            <a:extLst>
              <a:ext uri="{FF2B5EF4-FFF2-40B4-BE49-F238E27FC236}">
                <a16:creationId xmlns:a16="http://schemas.microsoft.com/office/drawing/2014/main" id="{EDF1F35A-C9B2-F49B-623D-435D6C9CC9BA}"/>
              </a:ext>
            </a:extLst>
          </p:cNvPr>
          <p:cNvSpPr>
            <a:spLocks noGrp="1"/>
          </p:cNvSpPr>
          <p:nvPr>
            <p:ph sz="half" idx="1"/>
          </p:nvPr>
        </p:nvSpPr>
        <p:spPr>
          <a:xfrm>
            <a:off x="581025" y="1564368"/>
            <a:ext cx="9648825" cy="4403725"/>
          </a:xfrm>
        </p:spPr>
        <p:txBody>
          <a:bodyPr vert="horz" lIns="91440" tIns="45720" rIns="91440" bIns="45720" rtlCol="0" anchor="t">
            <a:normAutofit fontScale="25000" lnSpcReduction="20000"/>
          </a:bodyPr>
          <a:lstStyle/>
          <a:p>
            <a:pPr marL="0" indent="0">
              <a:lnSpc>
                <a:spcPct val="270000"/>
              </a:lnSpc>
              <a:buNone/>
            </a:pPr>
            <a:r>
              <a:rPr lang="en-US" sz="6600" dirty="0"/>
              <a:t>1. Sequence input:  </a:t>
            </a:r>
            <a:r>
              <a:rPr lang="en-US" sz="6600" dirty="0">
                <a:solidFill>
                  <a:srgbClr val="555555"/>
                </a:solidFill>
                <a:latin typeface="Aptos"/>
                <a:ea typeface="Calibri"/>
                <a:cs typeface="Calibri"/>
              </a:rPr>
              <a:t>FASTA sequences retrieved via accession numbers from NCBI</a:t>
            </a:r>
            <a:endParaRPr lang="en-US" sz="6600" dirty="0">
              <a:solidFill>
                <a:srgbClr val="000000"/>
              </a:solidFill>
              <a:latin typeface="Aptos"/>
              <a:ea typeface="Calibri"/>
              <a:cs typeface="Calibri"/>
            </a:endParaRPr>
          </a:p>
          <a:p>
            <a:pPr marL="0" indent="0">
              <a:lnSpc>
                <a:spcPct val="270000"/>
              </a:lnSpc>
              <a:buNone/>
            </a:pPr>
            <a:r>
              <a:rPr lang="en-US" sz="6600" dirty="0">
                <a:solidFill>
                  <a:srgbClr val="000000"/>
                </a:solidFill>
                <a:latin typeface="Aptos"/>
                <a:ea typeface="Calibri"/>
                <a:cs typeface="Calibri"/>
              </a:rPr>
              <a:t>2. </a:t>
            </a:r>
            <a:r>
              <a:rPr lang="en-US" sz="6600" b="1" dirty="0">
                <a:solidFill>
                  <a:srgbClr val="1A1A1A"/>
                </a:solidFill>
                <a:latin typeface="Aptos"/>
                <a:ea typeface="Calibri"/>
                <a:cs typeface="Calibri"/>
              </a:rPr>
              <a:t>FFT Scoring:  </a:t>
            </a:r>
            <a:r>
              <a:rPr lang="en-US" sz="6600" dirty="0">
                <a:solidFill>
                  <a:srgbClr val="555555"/>
                </a:solidFill>
                <a:latin typeface="Aptos"/>
                <a:ea typeface="Calibri"/>
                <a:cs typeface="Calibri"/>
              </a:rPr>
              <a:t>Sequences converted to numerical vectors; correlations found using Fast Fourier Transform to detect homologous regions.</a:t>
            </a:r>
            <a:endParaRPr lang="en-US" sz="6600" dirty="0">
              <a:solidFill>
                <a:srgbClr val="000000"/>
              </a:solidFill>
              <a:latin typeface="Aptos"/>
              <a:ea typeface="Calibri"/>
              <a:cs typeface="Calibri"/>
            </a:endParaRPr>
          </a:p>
          <a:p>
            <a:pPr marL="0" indent="0">
              <a:lnSpc>
                <a:spcPct val="270000"/>
              </a:lnSpc>
              <a:buNone/>
            </a:pPr>
            <a:r>
              <a:rPr lang="en-US" sz="6600" b="1" dirty="0">
                <a:solidFill>
                  <a:srgbClr val="1A1A1A"/>
                </a:solidFill>
                <a:latin typeface="Aptos"/>
                <a:ea typeface="Calibri"/>
                <a:cs typeface="Calibri"/>
              </a:rPr>
              <a:t>3. Guide Tree: </a:t>
            </a:r>
            <a:r>
              <a:rPr lang="en-US" sz="6600" dirty="0">
                <a:solidFill>
                  <a:srgbClr val="555555"/>
                </a:solidFill>
                <a:latin typeface="Aptos"/>
                <a:ea typeface="Calibri"/>
                <a:cs typeface="Calibri"/>
              </a:rPr>
              <a:t>Pairwise similarity scores build a UPGMA guide tree to order alignment.</a:t>
            </a:r>
            <a:endParaRPr lang="en-US" sz="6600" dirty="0">
              <a:solidFill>
                <a:srgbClr val="000000"/>
              </a:solidFill>
              <a:latin typeface="Aptos"/>
              <a:ea typeface="Calibri"/>
              <a:cs typeface="Calibri"/>
            </a:endParaRPr>
          </a:p>
          <a:p>
            <a:pPr marL="0" indent="0">
              <a:lnSpc>
                <a:spcPct val="270000"/>
              </a:lnSpc>
              <a:buNone/>
            </a:pPr>
            <a:r>
              <a:rPr lang="en-US" sz="6600" dirty="0">
                <a:solidFill>
                  <a:srgbClr val="555555"/>
                </a:solidFill>
                <a:latin typeface="Aptos"/>
                <a:ea typeface="Calibri"/>
                <a:cs typeface="Calibri"/>
              </a:rPr>
              <a:t>4. </a:t>
            </a:r>
            <a:r>
              <a:rPr lang="en-US" sz="6600" b="1" dirty="0">
                <a:solidFill>
                  <a:srgbClr val="1A1A1A"/>
                </a:solidFill>
                <a:latin typeface="Aptos"/>
                <a:ea typeface="Calibri"/>
                <a:cs typeface="Calibri"/>
              </a:rPr>
              <a:t>Progressive Alignment: </a:t>
            </a:r>
            <a:r>
              <a:rPr lang="en-US" sz="6600" dirty="0">
                <a:solidFill>
                  <a:srgbClr val="555555"/>
                </a:solidFill>
                <a:latin typeface="Aptos"/>
                <a:ea typeface="Calibri"/>
                <a:cs typeface="Calibri"/>
              </a:rPr>
              <a:t>Sequences aligned progressively along the tree; iterative refinement improves accuracy (L-INS-</a:t>
            </a:r>
            <a:r>
              <a:rPr lang="en-US" sz="6600" dirty="0" err="1">
                <a:solidFill>
                  <a:srgbClr val="555555"/>
                </a:solidFill>
                <a:latin typeface="Aptos"/>
                <a:ea typeface="Calibri"/>
                <a:cs typeface="Calibri"/>
              </a:rPr>
              <a:t>i</a:t>
            </a:r>
            <a:r>
              <a:rPr lang="en-US" sz="6600" dirty="0">
                <a:solidFill>
                  <a:srgbClr val="555555"/>
                </a:solidFill>
                <a:latin typeface="Aptos"/>
                <a:ea typeface="Calibri"/>
                <a:cs typeface="Calibri"/>
              </a:rPr>
              <a:t> mode)</a:t>
            </a:r>
            <a:endParaRPr lang="en-US" sz="6600" dirty="0">
              <a:latin typeface="Aptos"/>
            </a:endParaRPr>
          </a:p>
          <a:p>
            <a:pPr marL="0" indent="0">
              <a:lnSpc>
                <a:spcPct val="270000"/>
              </a:lnSpc>
              <a:buNone/>
            </a:pPr>
            <a:br>
              <a:rPr lang="en-US" dirty="0"/>
            </a:br>
            <a:endParaRPr lang="en-US" sz="6600" dirty="0"/>
          </a:p>
          <a:p>
            <a:pPr marL="0" indent="0">
              <a:buNone/>
            </a:pPr>
            <a:br>
              <a:rPr lang="en-US" dirty="0"/>
            </a:br>
            <a:endParaRPr lang="en-US" dirty="0"/>
          </a:p>
        </p:txBody>
      </p:sp>
      <p:sp>
        <p:nvSpPr>
          <p:cNvPr id="4" name="TextBox 3">
            <a:extLst>
              <a:ext uri="{FF2B5EF4-FFF2-40B4-BE49-F238E27FC236}">
                <a16:creationId xmlns:a16="http://schemas.microsoft.com/office/drawing/2014/main" id="{BDF6583D-32E5-248C-6F96-04575BCD76CA}"/>
              </a:ext>
            </a:extLst>
          </p:cNvPr>
          <p:cNvSpPr txBox="1"/>
          <p:nvPr/>
        </p:nvSpPr>
        <p:spPr>
          <a:xfrm>
            <a:off x="3728852" y="-142504"/>
            <a:ext cx="184731" cy="369332"/>
          </a:xfrm>
          <a:prstGeom prst="rect">
            <a:avLst/>
          </a:prstGeom>
          <a:noFill/>
        </p:spPr>
        <p:txBody>
          <a:bodyPr wrap="none" rtlCol="0">
            <a:spAutoFit/>
          </a:bodyPr>
          <a:lstStyle/>
          <a:p>
            <a:endParaRPr lang="en-AT" dirty="0"/>
          </a:p>
        </p:txBody>
      </p:sp>
    </p:spTree>
    <p:extLst>
      <p:ext uri="{BB962C8B-B14F-4D97-AF65-F5344CB8AC3E}">
        <p14:creationId xmlns:p14="http://schemas.microsoft.com/office/powerpoint/2010/main" val="3345661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6BF29-36E1-2B8E-AE80-12B04ED4B864}"/>
              </a:ext>
            </a:extLst>
          </p:cNvPr>
          <p:cNvSpPr>
            <a:spLocks noGrp="1"/>
          </p:cNvSpPr>
          <p:nvPr>
            <p:ph type="title"/>
          </p:nvPr>
        </p:nvSpPr>
        <p:spPr/>
        <p:txBody>
          <a:bodyPr/>
          <a:lstStyle/>
          <a:p>
            <a:r>
              <a:rPr lang="en-US" sz="3400" dirty="0">
                <a:solidFill>
                  <a:srgbClr val="1A1A1A"/>
                </a:solidFill>
                <a:ea typeface="Calibri"/>
                <a:cs typeface="Calibri"/>
              </a:rPr>
              <a:t>How MUSCLE Works</a:t>
            </a:r>
            <a:endParaRPr lang="en-US" dirty="0"/>
          </a:p>
        </p:txBody>
      </p:sp>
      <p:sp>
        <p:nvSpPr>
          <p:cNvPr id="3" name="Content Placeholder 2">
            <a:extLst>
              <a:ext uri="{FF2B5EF4-FFF2-40B4-BE49-F238E27FC236}">
                <a16:creationId xmlns:a16="http://schemas.microsoft.com/office/drawing/2014/main" id="{F38EA683-4799-B9B4-84EF-D15118B87736}"/>
              </a:ext>
            </a:extLst>
          </p:cNvPr>
          <p:cNvSpPr>
            <a:spLocks noGrp="1"/>
          </p:cNvSpPr>
          <p:nvPr>
            <p:ph idx="1"/>
          </p:nvPr>
        </p:nvSpPr>
        <p:spPr>
          <a:xfrm>
            <a:off x="600075" y="1603375"/>
            <a:ext cx="10991850" cy="4889500"/>
          </a:xfrm>
        </p:spPr>
        <p:txBody>
          <a:bodyPr vert="horz" lIns="91440" tIns="45720" rIns="91440" bIns="45720" rtlCol="0" anchor="t">
            <a:normAutofit fontScale="25000" lnSpcReduction="20000"/>
          </a:bodyPr>
          <a:lstStyle/>
          <a:p>
            <a:pPr>
              <a:lnSpc>
                <a:spcPct val="120000"/>
              </a:lnSpc>
              <a:buNone/>
            </a:pPr>
            <a:r>
              <a:rPr lang="en-US" sz="6000" b="1" dirty="0">
                <a:solidFill>
                  <a:srgbClr val="555555"/>
                </a:solidFill>
                <a:latin typeface="Aptos"/>
                <a:ea typeface="Calibri"/>
                <a:cs typeface="Calibri"/>
              </a:rPr>
              <a:t>Multiple Sequence Comparison by Log-Expectation — v5 introduced ensemble-based alignment</a:t>
            </a:r>
            <a:endParaRPr lang="en-US" sz="6000" b="1" dirty="0">
              <a:latin typeface="Aptos"/>
            </a:endParaRPr>
          </a:p>
          <a:p>
            <a:pPr>
              <a:lnSpc>
                <a:spcPct val="120000"/>
              </a:lnSpc>
              <a:buNone/>
            </a:pPr>
            <a:r>
              <a:rPr lang="en-US" sz="6000" b="1" dirty="0">
                <a:solidFill>
                  <a:srgbClr val="1A1A1A"/>
                </a:solidFill>
                <a:latin typeface="Aptos"/>
                <a:ea typeface="Calibri"/>
                <a:cs typeface="Calibri"/>
              </a:rPr>
              <a:t>1.Draft Progressive Alignment</a:t>
            </a:r>
            <a:endParaRPr lang="en-US" sz="6000" b="1" dirty="0">
              <a:solidFill>
                <a:srgbClr val="000000"/>
              </a:solidFill>
              <a:latin typeface="Aptos"/>
              <a:ea typeface="Calibri"/>
              <a:cs typeface="Calibri"/>
            </a:endParaRPr>
          </a:p>
          <a:p>
            <a:pPr>
              <a:lnSpc>
                <a:spcPct val="120000"/>
              </a:lnSpc>
              <a:buNone/>
            </a:pPr>
            <a:r>
              <a:rPr lang="en-US" sz="6000" b="1" dirty="0" err="1">
                <a:solidFill>
                  <a:srgbClr val="555555"/>
                </a:solidFill>
                <a:latin typeface="Aptos"/>
                <a:ea typeface="Calibri"/>
                <a:cs typeface="Calibri"/>
              </a:rPr>
              <a:t>Kmer</a:t>
            </a:r>
            <a:r>
              <a:rPr lang="en-US" sz="6000" b="1" dirty="0">
                <a:solidFill>
                  <a:srgbClr val="555555"/>
                </a:solidFill>
                <a:latin typeface="Aptos"/>
                <a:ea typeface="Calibri"/>
                <a:cs typeface="Calibri"/>
              </a:rPr>
              <a:t>-based distances estimate sequence similarity. A UPGMA tree is built from these distances, and sequences are aligned progressively along it to  produce a rough first alignment.</a:t>
            </a:r>
            <a:endParaRPr lang="en-US" sz="6000" b="1" dirty="0">
              <a:latin typeface="Aptos"/>
            </a:endParaRPr>
          </a:p>
          <a:p>
            <a:pPr>
              <a:lnSpc>
                <a:spcPct val="120000"/>
              </a:lnSpc>
              <a:buNone/>
            </a:pPr>
            <a:endParaRPr lang="en-US" sz="6000" b="1" dirty="0">
              <a:solidFill>
                <a:srgbClr val="1A1A1A"/>
              </a:solidFill>
              <a:latin typeface="Aptos"/>
              <a:ea typeface="Calibri"/>
              <a:cs typeface="Calibri"/>
            </a:endParaRPr>
          </a:p>
          <a:p>
            <a:pPr>
              <a:lnSpc>
                <a:spcPct val="120000"/>
              </a:lnSpc>
              <a:buNone/>
            </a:pPr>
            <a:r>
              <a:rPr lang="en-US" sz="6000" b="1" dirty="0">
                <a:solidFill>
                  <a:srgbClr val="1A1A1A"/>
                </a:solidFill>
                <a:latin typeface="Aptos"/>
                <a:ea typeface="Calibri"/>
                <a:cs typeface="Calibri"/>
              </a:rPr>
              <a:t>2. Improve the Tree</a:t>
            </a:r>
            <a:endParaRPr lang="en-US" sz="6000" b="1" dirty="0">
              <a:latin typeface="Aptos"/>
            </a:endParaRPr>
          </a:p>
          <a:p>
            <a:pPr>
              <a:lnSpc>
                <a:spcPct val="120000"/>
              </a:lnSpc>
              <a:buNone/>
            </a:pPr>
            <a:r>
              <a:rPr lang="en-US" sz="6000" b="1" dirty="0">
                <a:solidFill>
                  <a:srgbClr val="555555"/>
                </a:solidFill>
                <a:latin typeface="Aptos"/>
                <a:ea typeface="Calibri"/>
                <a:cs typeface="Calibri"/>
              </a:rPr>
              <a:t>A new distance matrix is computed from the Stage 1 alignment using Kimura distances. A better guide tree is built and used to re-align the sequence improving on the draft.</a:t>
            </a:r>
            <a:endParaRPr lang="en-US" sz="6000" b="1" dirty="0">
              <a:latin typeface="Aptos"/>
            </a:endParaRPr>
          </a:p>
          <a:p>
            <a:pPr>
              <a:lnSpc>
                <a:spcPct val="120000"/>
              </a:lnSpc>
              <a:buNone/>
            </a:pPr>
            <a:endParaRPr lang="en-US" sz="6000" b="1" dirty="0">
              <a:solidFill>
                <a:srgbClr val="1A1A1A"/>
              </a:solidFill>
              <a:latin typeface="Aptos"/>
              <a:ea typeface="Calibri"/>
              <a:cs typeface="Calibri"/>
            </a:endParaRPr>
          </a:p>
          <a:p>
            <a:pPr>
              <a:lnSpc>
                <a:spcPct val="120000"/>
              </a:lnSpc>
              <a:buNone/>
            </a:pPr>
            <a:r>
              <a:rPr lang="en-US" sz="6000" b="1" dirty="0">
                <a:solidFill>
                  <a:srgbClr val="1A1A1A"/>
                </a:solidFill>
                <a:latin typeface="Aptos"/>
                <a:ea typeface="Calibri"/>
                <a:cs typeface="Calibri"/>
              </a:rPr>
              <a:t>3.Iterative Refinement (MUSCLE-S / Super</a:t>
            </a:r>
            <a:endParaRPr lang="en-US" sz="6000" b="1" dirty="0">
              <a:solidFill>
                <a:srgbClr val="000000"/>
              </a:solidFill>
              <a:latin typeface="Aptos"/>
              <a:ea typeface="Calibri"/>
              <a:cs typeface="Calibri"/>
            </a:endParaRPr>
          </a:p>
          <a:p>
            <a:pPr>
              <a:lnSpc>
                <a:spcPct val="120000"/>
              </a:lnSpc>
              <a:buNone/>
            </a:pPr>
            <a:r>
              <a:rPr lang="en-US" sz="6000" b="1" dirty="0">
                <a:solidFill>
                  <a:srgbClr val="555555"/>
                </a:solidFill>
                <a:latin typeface="Aptos"/>
                <a:ea typeface="Calibri"/>
                <a:cs typeface="Calibri"/>
              </a:rPr>
              <a:t>The alignment is split and re-joined repeatedly to refine accuracy. MUSCLE v5's 'super5' mode skips expensive steps for very.  large datasets (thousands of sequences), dramatically improving speed while maintaining quality.</a:t>
            </a:r>
            <a:endParaRPr lang="en-US" sz="6000" b="1" dirty="0">
              <a:latin typeface="Aptos"/>
            </a:endParaRPr>
          </a:p>
          <a:p>
            <a:pPr>
              <a:lnSpc>
                <a:spcPct val="120000"/>
              </a:lnSpc>
              <a:buNone/>
            </a:pPr>
            <a:br>
              <a:rPr lang="en-US" dirty="0"/>
            </a:br>
            <a:endParaRPr lang="en-US" sz="6000" b="1" dirty="0"/>
          </a:p>
          <a:p>
            <a:pPr>
              <a:lnSpc>
                <a:spcPct val="120000"/>
              </a:lnSpc>
              <a:buNone/>
            </a:pPr>
            <a:r>
              <a:rPr lang="en-US" sz="6000" b="1" dirty="0">
                <a:solidFill>
                  <a:srgbClr val="1A6DB5"/>
                </a:solidFill>
                <a:latin typeface="Aptos"/>
                <a:ea typeface="Calibri"/>
                <a:cs typeface="Calibri"/>
              </a:rPr>
              <a:t>MUSCLE v5 can run multiple replicates and ensemble them — reducing alignment uncertainty on difficult datasets</a:t>
            </a:r>
            <a:endParaRPr lang="en-US" sz="6000" b="1" dirty="0">
              <a:latin typeface="Aptos"/>
            </a:endParaRPr>
          </a:p>
          <a:p>
            <a:pPr marL="0" indent="0">
              <a:lnSpc>
                <a:spcPct val="120000"/>
              </a:lnSpc>
              <a:buNone/>
            </a:pPr>
            <a:br>
              <a:rPr lang="en-US" dirty="0"/>
            </a:br>
            <a:endParaRPr lang="en-US" sz="6000" b="1" dirty="0"/>
          </a:p>
        </p:txBody>
      </p:sp>
    </p:spTree>
    <p:extLst>
      <p:ext uri="{BB962C8B-B14F-4D97-AF65-F5344CB8AC3E}">
        <p14:creationId xmlns:p14="http://schemas.microsoft.com/office/powerpoint/2010/main" val="4052178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726B6-0049-4188-4AF7-C3A451E2102B}"/>
              </a:ext>
            </a:extLst>
          </p:cNvPr>
          <p:cNvSpPr>
            <a:spLocks noGrp="1"/>
          </p:cNvSpPr>
          <p:nvPr>
            <p:ph type="title"/>
          </p:nvPr>
        </p:nvSpPr>
        <p:spPr/>
        <p:txBody>
          <a:bodyPr/>
          <a:lstStyle/>
          <a:p>
            <a:r>
              <a:rPr lang="en-US" sz="3000" dirty="0">
                <a:solidFill>
                  <a:srgbClr val="1A1A1A"/>
                </a:solidFill>
                <a:ea typeface="Calibri"/>
                <a:cs typeface="Calibri"/>
              </a:rPr>
              <a:t>MAFFT vs MUSCLE: When to Use Which?</a:t>
            </a:r>
            <a:endParaRPr lang="en-US" dirty="0"/>
          </a:p>
        </p:txBody>
      </p:sp>
      <p:graphicFrame>
        <p:nvGraphicFramePr>
          <p:cNvPr id="4" name="Content Placeholder 3">
            <a:extLst>
              <a:ext uri="{FF2B5EF4-FFF2-40B4-BE49-F238E27FC236}">
                <a16:creationId xmlns:a16="http://schemas.microsoft.com/office/drawing/2014/main" id="{68C62C2B-3AE3-90C3-1B67-C4A3F8A68BB8}"/>
              </a:ext>
            </a:extLst>
          </p:cNvPr>
          <p:cNvGraphicFramePr>
            <a:graphicFrameLocks noGrp="1"/>
          </p:cNvGraphicFramePr>
          <p:nvPr>
            <p:ph idx="1"/>
            <p:extLst>
              <p:ext uri="{D42A27DB-BD31-4B8C-83A1-F6EECF244321}">
                <p14:modId xmlns:p14="http://schemas.microsoft.com/office/powerpoint/2010/main" val="160372890"/>
              </p:ext>
            </p:extLst>
          </p:nvPr>
        </p:nvGraphicFramePr>
        <p:xfrm>
          <a:off x="276225" y="1576387"/>
          <a:ext cx="11500512" cy="4853391"/>
        </p:xfrm>
        <a:graphic>
          <a:graphicData uri="http://schemas.openxmlformats.org/drawingml/2006/table">
            <a:tbl>
              <a:tblPr firstRow="1" bandRow="1">
                <a:tableStyleId>{5C22544A-7EE6-4342-B048-85BDC9FD1C3A}</a:tableStyleId>
              </a:tblPr>
              <a:tblGrid>
                <a:gridCol w="3833504">
                  <a:extLst>
                    <a:ext uri="{9D8B030D-6E8A-4147-A177-3AD203B41FA5}">
                      <a16:colId xmlns:a16="http://schemas.microsoft.com/office/drawing/2014/main" val="1754872711"/>
                    </a:ext>
                  </a:extLst>
                </a:gridCol>
                <a:gridCol w="3833504">
                  <a:extLst>
                    <a:ext uri="{9D8B030D-6E8A-4147-A177-3AD203B41FA5}">
                      <a16:colId xmlns:a16="http://schemas.microsoft.com/office/drawing/2014/main" val="2876960598"/>
                    </a:ext>
                  </a:extLst>
                </a:gridCol>
                <a:gridCol w="3833504">
                  <a:extLst>
                    <a:ext uri="{9D8B030D-6E8A-4147-A177-3AD203B41FA5}">
                      <a16:colId xmlns:a16="http://schemas.microsoft.com/office/drawing/2014/main" val="2756083171"/>
                    </a:ext>
                  </a:extLst>
                </a:gridCol>
              </a:tblGrid>
              <a:tr h="577953">
                <a:tc>
                  <a:txBody>
                    <a:bodyPr/>
                    <a:lstStyle/>
                    <a:p>
                      <a:endParaRPr lang="en-US"/>
                    </a:p>
                  </a:txBody>
                  <a:tcPr/>
                </a:tc>
                <a:tc>
                  <a:txBody>
                    <a:bodyPr/>
                    <a:lstStyle/>
                    <a:p>
                      <a:pPr lvl="0" algn="ctr">
                        <a:lnSpc>
                          <a:spcPct val="100000"/>
                        </a:lnSpc>
                        <a:spcBef>
                          <a:spcPts val="0"/>
                        </a:spcBef>
                        <a:spcAft>
                          <a:spcPts val="0"/>
                        </a:spcAft>
                        <a:buNone/>
                      </a:pPr>
                      <a:r>
                        <a:rPr lang="en-US" sz="1400" b="1" i="0" u="none" strike="noStrike" noProof="0">
                          <a:solidFill>
                            <a:srgbClr val="FFFFFF"/>
                          </a:solidFill>
                          <a:latin typeface="Arial"/>
                          <a:cs typeface="Arial"/>
                        </a:rPr>
                        <a:t>MAFFT</a:t>
                      </a:r>
                      <a:endParaRPr lang="en-US"/>
                    </a:p>
                  </a:txBody>
                  <a:tcPr/>
                </a:tc>
                <a:tc>
                  <a:txBody>
                    <a:bodyPr/>
                    <a:lstStyle/>
                    <a:p>
                      <a:pPr lvl="0" algn="ctr">
                        <a:lnSpc>
                          <a:spcPct val="100000"/>
                        </a:lnSpc>
                        <a:spcBef>
                          <a:spcPts val="0"/>
                        </a:spcBef>
                        <a:spcAft>
                          <a:spcPts val="0"/>
                        </a:spcAft>
                        <a:buNone/>
                      </a:pPr>
                      <a:r>
                        <a:rPr lang="en-US" sz="1400" b="1" i="0" u="none" strike="noStrike" noProof="0">
                          <a:solidFill>
                            <a:srgbClr val="FFFFFF"/>
                          </a:solidFill>
                          <a:latin typeface="Arial"/>
                          <a:cs typeface="Arial"/>
                        </a:rPr>
                        <a:t>MUSCLE / MUSCLE-S</a:t>
                      </a:r>
                      <a:endParaRPr lang="en-US"/>
                    </a:p>
                  </a:txBody>
                  <a:tcPr/>
                </a:tc>
                <a:extLst>
                  <a:ext uri="{0D108BD9-81ED-4DB2-BD59-A6C34878D82A}">
                    <a16:rowId xmlns:a16="http://schemas.microsoft.com/office/drawing/2014/main" val="3872750998"/>
                  </a:ext>
                </a:extLst>
              </a:tr>
              <a:tr h="577953">
                <a:tc>
                  <a:txBody>
                    <a:bodyPr/>
                    <a:lstStyle/>
                    <a:p>
                      <a:pPr lvl="0" algn="l">
                        <a:lnSpc>
                          <a:spcPct val="100000"/>
                        </a:lnSpc>
                        <a:spcBef>
                          <a:spcPts val="0"/>
                        </a:spcBef>
                        <a:spcAft>
                          <a:spcPts val="0"/>
                        </a:spcAft>
                        <a:buNone/>
                      </a:pPr>
                      <a:r>
                        <a:rPr lang="en-US" sz="1100" b="1" i="0" u="none" strike="noStrike" noProof="0">
                          <a:solidFill>
                            <a:srgbClr val="1A1A1A"/>
                          </a:solidFill>
                          <a:latin typeface="Calibri"/>
                          <a:ea typeface="Calibri"/>
                          <a:cs typeface="Calibri"/>
                        </a:rPr>
                        <a:t>Algorithm</a:t>
                      </a:r>
                      <a:endParaRPr lang="en-US"/>
                    </a:p>
                    <a:p>
                      <a:pPr lvl="0">
                        <a:buNone/>
                      </a:pPr>
                      <a:endParaRPr lang="en-US" dirty="0"/>
                    </a:p>
                  </a:txBody>
                  <a:tcPr/>
                </a:tc>
                <a:tc>
                  <a:txBody>
                    <a:bodyPr/>
                    <a:lstStyle/>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Fast Fourier Transform</a:t>
                      </a:r>
                      <a:endParaRPr lang="en-US"/>
                    </a:p>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 progressive / iterative</a:t>
                      </a:r>
                      <a:endParaRPr lang="en-US"/>
                    </a:p>
                  </a:txBody>
                  <a:tcPr/>
                </a:tc>
                <a:tc>
                  <a:txBody>
                    <a:bodyPr/>
                    <a:lstStyle/>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Log-expectation scoring</a:t>
                      </a:r>
                      <a:endParaRPr lang="en-US"/>
                    </a:p>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 progressive / iterative</a:t>
                      </a:r>
                      <a:endParaRPr lang="en-US"/>
                    </a:p>
                  </a:txBody>
                  <a:tcPr/>
                </a:tc>
                <a:extLst>
                  <a:ext uri="{0D108BD9-81ED-4DB2-BD59-A6C34878D82A}">
                    <a16:rowId xmlns:a16="http://schemas.microsoft.com/office/drawing/2014/main" val="3247827401"/>
                  </a:ext>
                </a:extLst>
              </a:tr>
              <a:tr h="577953">
                <a:tc>
                  <a:txBody>
                    <a:bodyPr/>
                    <a:lstStyle/>
                    <a:p>
                      <a:pPr lvl="0" algn="l">
                        <a:lnSpc>
                          <a:spcPct val="100000"/>
                        </a:lnSpc>
                        <a:spcBef>
                          <a:spcPts val="0"/>
                        </a:spcBef>
                        <a:spcAft>
                          <a:spcPts val="0"/>
                        </a:spcAft>
                        <a:buNone/>
                      </a:pPr>
                      <a:r>
                        <a:rPr lang="en-US" sz="1100" b="1" i="0" u="none" strike="noStrike" noProof="0">
                          <a:solidFill>
                            <a:srgbClr val="1A1A1A"/>
                          </a:solidFill>
                          <a:latin typeface="Calibri"/>
                          <a:ea typeface="Calibri"/>
                          <a:cs typeface="Calibri"/>
                        </a:rPr>
                        <a:t>Speed</a:t>
                      </a:r>
                      <a:br>
                        <a:rPr lang="en-US" dirty="0"/>
                      </a:br>
                      <a:endParaRPr lang="en-US"/>
                    </a:p>
                  </a:txBody>
                  <a:tcPr/>
                </a:tc>
                <a:tc>
                  <a:txBody>
                    <a:bodyPr/>
                    <a:lstStyle/>
                    <a:p>
                      <a:pPr lvl="0" algn="ctr">
                        <a:lnSpc>
                          <a:spcPct val="100000"/>
                        </a:lnSpc>
                        <a:spcBef>
                          <a:spcPts val="0"/>
                        </a:spcBef>
                        <a:spcAft>
                          <a:spcPts val="0"/>
                        </a:spcAft>
                        <a:buNone/>
                      </a:pPr>
                      <a:r>
                        <a:rPr lang="en-US" sz="1100" b="0" i="0" u="none" strike="noStrike" noProof="0" dirty="0">
                          <a:solidFill>
                            <a:srgbClr val="1A1A1A"/>
                          </a:solidFill>
                          <a:latin typeface="Calibri"/>
                          <a:ea typeface="Calibri"/>
                          <a:cs typeface="Calibri"/>
                        </a:rPr>
                        <a:t>Very fast (FFT-NS-2)</a:t>
                      </a:r>
                      <a:endParaRPr lang="en-US" dirty="0"/>
                    </a:p>
                    <a:p>
                      <a:pPr lvl="0" algn="ctr">
                        <a:lnSpc>
                          <a:spcPct val="100000"/>
                        </a:lnSpc>
                        <a:spcBef>
                          <a:spcPts val="0"/>
                        </a:spcBef>
                        <a:spcAft>
                          <a:spcPts val="0"/>
                        </a:spcAft>
                        <a:buNone/>
                      </a:pPr>
                      <a:r>
                        <a:rPr lang="en-US" sz="1100" b="0" i="0" u="none" strike="noStrike" noProof="0" dirty="0">
                          <a:solidFill>
                            <a:srgbClr val="1A1A1A"/>
                          </a:solidFill>
                          <a:latin typeface="Calibri"/>
                          <a:ea typeface="Calibri"/>
                          <a:cs typeface="Calibri"/>
                        </a:rPr>
                        <a:t>Slow but accurate (L-INS-</a:t>
                      </a:r>
                      <a:r>
                        <a:rPr lang="en-US" sz="1100" b="0" i="0" u="none" strike="noStrike" noProof="0" dirty="0" err="1">
                          <a:solidFill>
                            <a:srgbClr val="1A1A1A"/>
                          </a:solidFill>
                          <a:latin typeface="Calibri"/>
                          <a:ea typeface="Calibri"/>
                          <a:cs typeface="Calibri"/>
                        </a:rPr>
                        <a:t>i</a:t>
                      </a:r>
                      <a:r>
                        <a:rPr lang="en-US" sz="1100" b="0" i="0" u="none" strike="noStrike" noProof="0" dirty="0">
                          <a:solidFill>
                            <a:srgbClr val="1A1A1A"/>
                          </a:solidFill>
                          <a:latin typeface="Calibri"/>
                          <a:ea typeface="Calibri"/>
                          <a:cs typeface="Calibri"/>
                        </a:rPr>
                        <a:t>)</a:t>
                      </a:r>
                      <a:endParaRPr lang="en-US" dirty="0"/>
                    </a:p>
                  </a:txBody>
                  <a:tcPr/>
                </a:tc>
                <a:tc>
                  <a:txBody>
                    <a:bodyPr/>
                    <a:lstStyle/>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Fast (v5 Super5 mode)</a:t>
                      </a:r>
                      <a:endParaRPr lang="en-US"/>
                    </a:p>
                    <a:p>
                      <a:pPr lvl="0" algn="ctr">
                        <a:lnSpc>
                          <a:spcPct val="100000"/>
                        </a:lnSpc>
                        <a:spcBef>
                          <a:spcPts val="0"/>
                        </a:spcBef>
                        <a:spcAft>
                          <a:spcPts val="0"/>
                        </a:spcAft>
                        <a:buNone/>
                      </a:pPr>
                      <a:r>
                        <a:rPr lang="en-US" sz="1100" b="0" i="0" u="none" strike="noStrike" noProof="0" dirty="0">
                          <a:solidFill>
                            <a:srgbClr val="1A1A1A"/>
                          </a:solidFill>
                          <a:latin typeface="Calibri"/>
                          <a:ea typeface="Calibri"/>
                          <a:cs typeface="Calibri"/>
                        </a:rPr>
                        <a:t>Slower for full </a:t>
                      </a:r>
                      <a:r>
                        <a:rPr lang="en-US" sz="1100" b="0" i="0" u="none" strike="noStrike" noProof="0" dirty="0" err="1">
                          <a:solidFill>
                            <a:srgbClr val="1A1A1A"/>
                          </a:solidFill>
                          <a:latin typeface="Calibri"/>
                          <a:ea typeface="Calibri"/>
                          <a:cs typeface="Calibri"/>
                        </a:rPr>
                        <a:t>refinemen</a:t>
                      </a:r>
                      <a:endParaRPr lang="en-US" dirty="0" err="1"/>
                    </a:p>
                  </a:txBody>
                  <a:tcPr/>
                </a:tc>
                <a:extLst>
                  <a:ext uri="{0D108BD9-81ED-4DB2-BD59-A6C34878D82A}">
                    <a16:rowId xmlns:a16="http://schemas.microsoft.com/office/drawing/2014/main" val="53105752"/>
                  </a:ext>
                </a:extLst>
              </a:tr>
              <a:tr h="577953">
                <a:tc>
                  <a:txBody>
                    <a:bodyPr/>
                    <a:lstStyle/>
                    <a:p>
                      <a:pPr lvl="0" algn="l">
                        <a:lnSpc>
                          <a:spcPct val="100000"/>
                        </a:lnSpc>
                        <a:spcBef>
                          <a:spcPts val="0"/>
                        </a:spcBef>
                        <a:spcAft>
                          <a:spcPts val="0"/>
                        </a:spcAft>
                        <a:buNone/>
                      </a:pPr>
                      <a:r>
                        <a:rPr lang="en-US" sz="1100" b="1" i="0" u="none" strike="noStrike" noProof="0">
                          <a:solidFill>
                            <a:srgbClr val="1A1A1A"/>
                          </a:solidFill>
                          <a:latin typeface="Calibri"/>
                          <a:ea typeface="Calibri"/>
                          <a:cs typeface="Calibri"/>
                        </a:rPr>
                        <a:t>Accuracy</a:t>
                      </a:r>
                      <a:endParaRPr lang="en-US"/>
                    </a:p>
                    <a:p>
                      <a:pPr lvl="0">
                        <a:buNone/>
                      </a:pPr>
                      <a:endParaRPr lang="en-US" dirty="0"/>
                    </a:p>
                  </a:txBody>
                  <a:tcPr/>
                </a:tc>
                <a:tc>
                  <a:txBody>
                    <a:bodyPr/>
                    <a:lstStyle/>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High — best with iterative modes</a:t>
                      </a:r>
                      <a:endParaRPr lang="en-US"/>
                    </a:p>
                  </a:txBody>
                  <a:tcPr/>
                </a:tc>
                <a:tc>
                  <a:txBody>
                    <a:bodyPr/>
                    <a:lstStyle/>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High — especially on proteins</a:t>
                      </a:r>
                      <a:endParaRPr lang="en-US"/>
                    </a:p>
                  </a:txBody>
                  <a:tcPr/>
                </a:tc>
                <a:extLst>
                  <a:ext uri="{0D108BD9-81ED-4DB2-BD59-A6C34878D82A}">
                    <a16:rowId xmlns:a16="http://schemas.microsoft.com/office/drawing/2014/main" val="4013941945"/>
                  </a:ext>
                </a:extLst>
              </a:tr>
              <a:tr h="577953">
                <a:tc>
                  <a:txBody>
                    <a:bodyPr/>
                    <a:lstStyle/>
                    <a:p>
                      <a:pPr lvl="0" algn="l">
                        <a:lnSpc>
                          <a:spcPct val="100000"/>
                        </a:lnSpc>
                        <a:spcBef>
                          <a:spcPts val="0"/>
                        </a:spcBef>
                        <a:spcAft>
                          <a:spcPts val="0"/>
                        </a:spcAft>
                        <a:buNone/>
                      </a:pPr>
                      <a:r>
                        <a:rPr lang="en-US" sz="1100" b="1" i="0" u="none" strike="noStrike" noProof="0">
                          <a:solidFill>
                            <a:srgbClr val="1A1A1A"/>
                          </a:solidFill>
                          <a:latin typeface="Calibri"/>
                          <a:ea typeface="Calibri"/>
                          <a:cs typeface="Calibri"/>
                        </a:rPr>
                        <a:t>Sequence types</a:t>
                      </a:r>
                      <a:endParaRPr lang="en-US"/>
                    </a:p>
                  </a:txBody>
                  <a:tcPr/>
                </a:tc>
                <a:tc>
                  <a:txBody>
                    <a:bodyPr/>
                    <a:lstStyle/>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DNA, RNA, Protein</a:t>
                      </a:r>
                      <a:endParaRPr lang="en-US"/>
                    </a:p>
                  </a:txBody>
                  <a:tcPr/>
                </a:tc>
                <a:tc>
                  <a:txBody>
                    <a:bodyPr/>
                    <a:lstStyle/>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Primarily Protein (also DNA)</a:t>
                      </a:r>
                      <a:endParaRPr lang="en-US"/>
                    </a:p>
                  </a:txBody>
                  <a:tcPr/>
                </a:tc>
                <a:extLst>
                  <a:ext uri="{0D108BD9-81ED-4DB2-BD59-A6C34878D82A}">
                    <a16:rowId xmlns:a16="http://schemas.microsoft.com/office/drawing/2014/main" val="1996084852"/>
                  </a:ext>
                </a:extLst>
              </a:tr>
              <a:tr h="577953">
                <a:tc>
                  <a:txBody>
                    <a:bodyPr/>
                    <a:lstStyle/>
                    <a:p>
                      <a:pPr lvl="0" algn="l">
                        <a:lnSpc>
                          <a:spcPct val="100000"/>
                        </a:lnSpc>
                        <a:spcBef>
                          <a:spcPts val="0"/>
                        </a:spcBef>
                        <a:spcAft>
                          <a:spcPts val="0"/>
                        </a:spcAft>
                        <a:buNone/>
                      </a:pPr>
                      <a:r>
                        <a:rPr lang="en-US" sz="1100" b="1" i="0" u="none" strike="noStrike" noProof="0">
                          <a:solidFill>
                            <a:srgbClr val="1A1A1A"/>
                          </a:solidFill>
                          <a:latin typeface="Calibri"/>
                          <a:ea typeface="Calibri"/>
                          <a:cs typeface="Calibri"/>
                        </a:rPr>
                        <a:t>Large datasets</a:t>
                      </a:r>
                      <a:endParaRPr lang="en-US"/>
                    </a:p>
                    <a:p>
                      <a:pPr lvl="0" algn="l">
                        <a:lnSpc>
                          <a:spcPct val="100000"/>
                        </a:lnSpc>
                        <a:spcBef>
                          <a:spcPts val="0"/>
                        </a:spcBef>
                        <a:spcAft>
                          <a:spcPts val="0"/>
                        </a:spcAft>
                        <a:buNone/>
                      </a:pPr>
                      <a:r>
                        <a:rPr lang="en-US" sz="1100" b="1" i="0" u="none" strike="noStrike" noProof="0">
                          <a:solidFill>
                            <a:srgbClr val="1A1A1A"/>
                          </a:solidFill>
                          <a:latin typeface="Calibri"/>
                          <a:ea typeface="Calibri"/>
                          <a:cs typeface="Calibri"/>
                        </a:rPr>
                        <a:t>(1000s of seqs)</a:t>
                      </a:r>
                      <a:endParaRPr lang="en-US"/>
                    </a:p>
                  </a:txBody>
                  <a:tcPr/>
                </a:tc>
                <a:tc>
                  <a:txBody>
                    <a:bodyPr/>
                    <a:lstStyle/>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Excellent (--auto flag) FFT-NS-2 recommended</a:t>
                      </a:r>
                      <a:endParaRPr lang="en-US"/>
                    </a:p>
                    <a:p>
                      <a:pPr lvl="0">
                        <a:buNone/>
                      </a:pPr>
                      <a:br>
                        <a:rPr lang="en-US" dirty="0"/>
                      </a:br>
                      <a:endParaRPr lang="en-US" dirty="0"/>
                    </a:p>
                  </a:txBody>
                  <a:tcPr/>
                </a:tc>
                <a:tc>
                  <a:txBody>
                    <a:bodyPr/>
                    <a:lstStyle/>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Excellent (Super5 mode)</a:t>
                      </a:r>
                      <a:endParaRPr lang="en-US"/>
                    </a:p>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Ensemble reduces error</a:t>
                      </a:r>
                      <a:endParaRPr lang="en-US"/>
                    </a:p>
                  </a:txBody>
                  <a:tcPr/>
                </a:tc>
                <a:extLst>
                  <a:ext uri="{0D108BD9-81ED-4DB2-BD59-A6C34878D82A}">
                    <a16:rowId xmlns:a16="http://schemas.microsoft.com/office/drawing/2014/main" val="2520118300"/>
                  </a:ext>
                </a:extLst>
              </a:tr>
              <a:tr h="577953">
                <a:tc>
                  <a:txBody>
                    <a:bodyPr/>
                    <a:lstStyle/>
                    <a:p>
                      <a:pPr lvl="0" algn="l">
                        <a:lnSpc>
                          <a:spcPct val="100000"/>
                        </a:lnSpc>
                        <a:spcBef>
                          <a:spcPts val="0"/>
                        </a:spcBef>
                        <a:spcAft>
                          <a:spcPts val="0"/>
                        </a:spcAft>
                        <a:buNone/>
                      </a:pPr>
                      <a:r>
                        <a:rPr lang="en-US" sz="1100" b="1" i="0" u="none" strike="noStrike" noProof="0">
                          <a:solidFill>
                            <a:srgbClr val="1A1A1A"/>
                          </a:solidFill>
                          <a:latin typeface="Calibri"/>
                          <a:ea typeface="Calibri"/>
                          <a:cs typeface="Calibri"/>
                        </a:rPr>
                        <a:t>Gap penalties</a:t>
                      </a:r>
                      <a:endParaRPr lang="en-US"/>
                    </a:p>
                  </a:txBody>
                  <a:tcPr/>
                </a:tc>
                <a:tc>
                  <a:txBody>
                    <a:bodyPr/>
                    <a:lstStyle/>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Adjustable (opening &amp; extension)</a:t>
                      </a:r>
                      <a:endParaRPr lang="en-US"/>
                    </a:p>
                  </a:txBody>
                  <a:tcPr/>
                </a:tc>
                <a:tc>
                  <a:txBody>
                    <a:bodyPr/>
                    <a:lstStyle/>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Internally managed</a:t>
                      </a:r>
                      <a:endParaRPr lang="en-US"/>
                    </a:p>
                  </a:txBody>
                  <a:tcPr/>
                </a:tc>
                <a:extLst>
                  <a:ext uri="{0D108BD9-81ED-4DB2-BD59-A6C34878D82A}">
                    <a16:rowId xmlns:a16="http://schemas.microsoft.com/office/drawing/2014/main" val="867584604"/>
                  </a:ext>
                </a:extLst>
              </a:tr>
              <a:tr h="577953">
                <a:tc>
                  <a:txBody>
                    <a:bodyPr/>
                    <a:lstStyle/>
                    <a:p>
                      <a:pPr lvl="0" algn="l">
                        <a:lnSpc>
                          <a:spcPct val="100000"/>
                        </a:lnSpc>
                        <a:spcBef>
                          <a:spcPts val="0"/>
                        </a:spcBef>
                        <a:spcAft>
                          <a:spcPts val="0"/>
                        </a:spcAft>
                        <a:buNone/>
                      </a:pPr>
                      <a:r>
                        <a:rPr lang="en-US" sz="1100" b="1" i="0" u="none" strike="noStrike" noProof="0">
                          <a:solidFill>
                            <a:srgbClr val="1A1A1A"/>
                          </a:solidFill>
                          <a:latin typeface="Calibri"/>
                          <a:ea typeface="Calibri"/>
                          <a:cs typeface="Calibri"/>
                        </a:rPr>
                        <a:t>Best use case</a:t>
                      </a:r>
                      <a:endParaRPr lang="en-US"/>
                    </a:p>
                    <a:p>
                      <a:pPr lvl="0">
                        <a:buNone/>
                      </a:pPr>
                      <a:endParaRPr lang="en-US" dirty="0"/>
                    </a:p>
                  </a:txBody>
                  <a:tcPr/>
                </a:tc>
                <a:tc>
                  <a:txBody>
                    <a:bodyPr/>
                    <a:lstStyle/>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Phylogenetic studies, large</a:t>
                      </a:r>
                      <a:endParaRPr lang="en-US"/>
                    </a:p>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genomic datasets, RNA</a:t>
                      </a:r>
                      <a:endParaRPr lang="en-US"/>
                    </a:p>
                  </a:txBody>
                  <a:tcPr/>
                </a:tc>
                <a:tc>
                  <a:txBody>
                    <a:bodyPr/>
                    <a:lstStyle/>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Protein family analysis,</a:t>
                      </a:r>
                      <a:endParaRPr lang="en-US"/>
                    </a:p>
                    <a:p>
                      <a:pPr lvl="0" algn="ctr">
                        <a:lnSpc>
                          <a:spcPct val="100000"/>
                        </a:lnSpc>
                        <a:spcBef>
                          <a:spcPts val="0"/>
                        </a:spcBef>
                        <a:spcAft>
                          <a:spcPts val="0"/>
                        </a:spcAft>
                        <a:buNone/>
                      </a:pPr>
                      <a:r>
                        <a:rPr lang="en-US" sz="1100" b="0" i="0" u="none" strike="noStrike" noProof="0">
                          <a:solidFill>
                            <a:srgbClr val="1A1A1A"/>
                          </a:solidFill>
                          <a:latin typeface="Calibri"/>
                          <a:ea typeface="Calibri"/>
                          <a:cs typeface="Calibri"/>
                        </a:rPr>
                        <a:t>high-accuracy protein MSA</a:t>
                      </a:r>
                      <a:endParaRPr lang="en-US"/>
                    </a:p>
                  </a:txBody>
                  <a:tcPr/>
                </a:tc>
                <a:extLst>
                  <a:ext uri="{0D108BD9-81ED-4DB2-BD59-A6C34878D82A}">
                    <a16:rowId xmlns:a16="http://schemas.microsoft.com/office/drawing/2014/main" val="3686227317"/>
                  </a:ext>
                </a:extLst>
              </a:tr>
            </a:tbl>
          </a:graphicData>
        </a:graphic>
      </p:graphicFrame>
    </p:spTree>
    <p:extLst>
      <p:ext uri="{BB962C8B-B14F-4D97-AF65-F5344CB8AC3E}">
        <p14:creationId xmlns:p14="http://schemas.microsoft.com/office/powerpoint/2010/main" val="622127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582</Words>
  <Application>Microsoft Macintosh PowerPoint</Application>
  <PresentationFormat>Widescreen</PresentationFormat>
  <Paragraphs>88</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-webkit-standard</vt:lpstr>
      <vt:lpstr>Aptos</vt:lpstr>
      <vt:lpstr>Aptos Display</vt:lpstr>
      <vt:lpstr>Arial</vt:lpstr>
      <vt:lpstr>Calibri</vt:lpstr>
      <vt:lpstr>Office Theme</vt:lpstr>
      <vt:lpstr>MAFFT and MUSCLE(S)  Multiple Sequence Alignment Tools</vt:lpstr>
      <vt:lpstr>PowerPoint Presentation</vt:lpstr>
      <vt:lpstr>Single Gene Mutations </vt:lpstr>
      <vt:lpstr>Interpreation of MSA</vt:lpstr>
      <vt:lpstr>MUSCLE</vt:lpstr>
      <vt:lpstr>MAFFT: MSA with different penalty factors</vt:lpstr>
      <vt:lpstr>Comparison of Alignments</vt:lpstr>
      <vt:lpstr>How MAFFT Works Multiple Alignment using Fast Fourier Transform</vt:lpstr>
      <vt:lpstr>How MUSCLE Works</vt:lpstr>
      <vt:lpstr>MAFFT vs MUSCLE: When to Use Which?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Evgenia Kachmazova</dc:creator>
  <cp:lastModifiedBy>Evgenia Kachmazova</cp:lastModifiedBy>
  <cp:revision>3</cp:revision>
  <dcterms:created xsi:type="dcterms:W3CDTF">2026-05-26T15:13:44Z</dcterms:created>
  <dcterms:modified xsi:type="dcterms:W3CDTF">2026-05-27T08:19:08Z</dcterms:modified>
</cp:coreProperties>
</file>